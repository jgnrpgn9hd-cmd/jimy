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f0101312-179a-e8b4-21ec-fc2ca3716569}">
          <p14:sldIdLst>
            <p14:sldId id="256"/>
          </p14:sldIdLst>
        </p14:section>
        <p14:section name="La niche" id="{d3e225a9-a9d3-7937-434a-54e0680bf8b1}">
          <p14:sldIdLst>
            <p14:sldId id="257"/>
            <p14:sldId id="258"/>
            <p14:sldId id="259"/>
          </p14:sldIdLst>
        </p14:section>
        <p14:section name="Pourquoi" id="{f3e703cd-4957-a006-ce3f-85be0e10b2ca}">
          <p14:sldIdLst>
            <p14:sldId id="260"/>
            <p14:sldId id="261"/>
          </p14:sldIdLst>
        </p14:section>
        <p14:section name="L'offre" id="{6ff32227-88cc-2856-8fed-d29f6eb63b90}">
          <p14:sldIdLst>
            <p14:sldId id="262"/>
            <p14:sldId id="263"/>
            <p14:sldId id="264"/>
          </p14:sldIdLst>
        </p14:section>
        <p14:section name="Vendre" id="{9193049d-0701-0f07-58e6-88f6726fcf43}">
          <p14:sldIdLst>
            <p14:sldId id="265"/>
            <p14:sldId id="266"/>
            <p14:sldId id="267"/>
          </p14:sldIdLst>
        </p14:section>
        <p14:section name="Clôture" id="{450d8a6b-680a-a7d9-abaa-dac19f5ecc3a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chemeClr val="tx2"/>
                </a:solidFill>
                <a:latin typeface="+mn-lt"/>
              </a:defRPr>
            </a:pPr>
            <a:r>
              <a:rPr sz="1400" b="0" i="0" u="none" strike="noStrike">
                <a:solidFill>
                  <a:schemeClr val="tx2"/>
                </a:solidFill>
                <a:latin typeface="+mn-lt"/>
              </a:rPr>
              <a:t>Ce qui reste par commande, avant la pub (sans TVA)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Reste avant la pub (€)</c:v>
                </c:pt>
              </c:strCache>
            </c:strRef>
          </c:tx>
          <c:spPr>
            <a:solidFill>
              <a:srgbClr val="B08D57"/>
            </a:solidFill>
            <a:effectLst/>
          </c:spPr>
          <c:invertIfNegative val="0"/>
          <c:dLbls>
            <c:numFmt formatCode="0.00&quot; €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chemeClr val="tx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Collier seul (24,90 €)</c:v>
                  </c:pt>
                  <c:pt idx="1">
                    <c:v>Collier + bracelet (38,80 €)</c:v>
                  </c:pt>
                  <c:pt idx="2">
                    <c:v>Parure en écrin (44,90 €)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17.51</c:v>
                </c:pt>
                <c:pt idx="1">
                  <c:v>25.6</c:v>
                </c:pt>
                <c:pt idx="2">
                  <c:v>27.5</c:v>
                </c:pt>
              </c:numCache>
            </c:numRef>
          </c:val>
        </c:ser>
        <c:dLbls>
          <c:numFmt formatCode="0.00&quot; €&quot;" sourceLinked="0"/>
          <c:txPr>
            <a:bodyPr/>
            <a:lstStyle/>
            <a:p>
              <a:pPr>
                <a:defRPr b="0" i="0" strike="noStrike" sz="1400" u="none">
                  <a:solidFill>
                    <a:schemeClr val="tx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chemeClr val="tx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4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Présentation du projet VAURE. Le devoir demandé : dire la niche. La réponse est sur la diapositive suivante, puis j'explique pourquoi ce choix et comment on va vendre.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niche se dit du plus large au plus précis : marché, catégorie, niche. Ce qui rend la niche précise, c'est la matière (316L et titane) et le problème réglé (le bijou qui noircit, verdit ou irrite).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cliente type et ses quatre problèmes. Chaque produit VAURE répond à l'un d'eux.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promesse en une phrase, sur le modèle « mon produit aide ma cliente à ___, sans ___ ». Elle est en haut du site : « Des bijoux qui ne noircissent pas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produit est retenu s'il remplit au moins 3 critères sur 4. Le collier Marguerite les remplit tous les quatre.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chiffres des rideaux viennent des captures CJ : 51,92 € et 60,91 € pour deux rideaux livrés en France.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Calcul : 24,90 € moins 6,64 € de coût livré et environ 0,75 € de frais de paiement, soit 17,51 €. Avec la TVA, il reste 13,36 €.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catalogue de départ reste petit : on ajoutera ce qui se vend.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chiffres de l'ensemble et de la parure sont des estimations : le coût du bracelet et des puces est à confirmer sur CJ. Objectif : un panier moyen d'au moins 35 €.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confiance compte autant que le produit : pas de vocabulaire de site discount, et une urgence qui correspond à une vraie date.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Budget total du premier test : environ 150 €, plus environ 20 € d'échantillons.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site de démonstration est dans le dossier vaure/site du dépôt GitHub.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Résumé : niche, problème, produit héros, prochaine étape.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OMBRE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400" b="1" spc="400" kern="0" dirty="0">
                <a:solidFill>
                  <a:schemeClr val="accent1"/>
                </a:solidFill>
              </a:defRPr>
            </a:lvl1pPr>
          </a:lstStyle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965960"/>
            <a:ext cx="11064240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44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ctr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463040" y="4297680"/>
            <a:ext cx="923544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000" dirty="0">
                <a:solidFill>
                  <a:schemeClr val="accent4"/>
                </a:solidFill>
              </a:defRPr>
            </a:lvl1pPr>
          </a:lstStyle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V A U R E   ·   Projet de boutique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ctr" indent="0" marL="0">
              <a:buNone/>
            </a:pPr>
            <a:r>
              <a:rPr lang="en-US" sz="1400" b="1" spc="400" kern="0" dirty="0">
                <a:solidFill>
                  <a:schemeClr val="accent1"/>
                </a:solidFill>
              </a:rPr>
              <a:t>PROJET DE BOUTIQUE EN LIGNE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965960"/>
            <a:ext cx="11064240" cy="21031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ctr" indent="0" marL="0">
              <a:buNone/>
            </a:pPr>
            <a:r>
              <a:rPr lang="en-US" sz="66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 A U R E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463040" y="4297680"/>
            <a:ext cx="9235440" cy="11887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Des bijoux dorés qui ne noircissent pas.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Acier inoxydable 316L et titane, pour les femmes qui veulent briller tous les jours.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DEVOIR  ·  DIRE LA NICHE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 niche en une phrase</a:t>
            </a:r>
            <a:endParaRPr lang="en-US" sz="3600" dirty="0"/>
          </a:p>
        </p:txBody>
      </p:sp>
      <p:sp>
        <p:nvSpPr>
          <p:cNvPr id="4" name="Encadré niche"/>
          <p:cNvSpPr/>
          <p:nvPr/>
        </p:nvSpPr>
        <p:spPr>
          <a:xfrm>
            <a:off x="548640" y="1691640"/>
            <a:ext cx="11064240" cy="160020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Phrase niche"/>
          <p:cNvSpPr txBox="1"/>
          <p:nvPr/>
        </p:nvSpPr>
        <p:spPr>
          <a:xfrm>
            <a:off x="914400" y="1783080"/>
            <a:ext cx="10332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bijoux dorés en acier inoxydable et en titane </a:t>
            </a:r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 ne noircissent pas et conviennent aux peaux sensibles</a:t>
            </a:r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pour les femmes de 18 à 45 ans qui achètent sur un coup de cœur ou pour offrir.</a:t>
            </a:r>
            <a:endParaRPr lang="en-US" sz="2200" dirty="0"/>
          </a:p>
        </p:txBody>
      </p:sp>
      <p:sp>
        <p:nvSpPr>
          <p:cNvPr id="6" name="Niveau 1 cercle"/>
          <p:cNvSpPr/>
          <p:nvPr/>
        </p:nvSpPr>
        <p:spPr>
          <a:xfrm>
            <a:off x="548640" y="3794760"/>
            <a:ext cx="685800" cy="685800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7" name="Niveau 1 texte"/>
          <p:cNvSpPr txBox="1"/>
          <p:nvPr/>
        </p:nvSpPr>
        <p:spPr>
          <a:xfrm>
            <a:off x="548640" y="37947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Niveau titre 1"/>
          <p:cNvSpPr txBox="1"/>
          <p:nvPr/>
        </p:nvSpPr>
        <p:spPr>
          <a:xfrm>
            <a:off x="1417320" y="37490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Marché</a:t>
            </a:r>
            <a:endParaRPr lang="en-US" sz="2000" dirty="0"/>
          </a:p>
        </p:txBody>
      </p:sp>
      <p:sp>
        <p:nvSpPr>
          <p:cNvPr id="9" name="Niveau texte 1"/>
          <p:cNvSpPr txBox="1"/>
          <p:nvPr/>
        </p:nvSpPr>
        <p:spPr>
          <a:xfrm>
            <a:off x="1417320" y="4160520"/>
            <a:ext cx="2697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Les accessoires de mode féminins</a:t>
            </a:r>
            <a:endParaRPr lang="en-US" sz="1500" dirty="0"/>
          </a:p>
        </p:txBody>
      </p:sp>
      <p:sp>
        <p:nvSpPr>
          <p:cNvPr id="10" name="Niveau 2 cercle"/>
          <p:cNvSpPr/>
          <p:nvPr/>
        </p:nvSpPr>
        <p:spPr>
          <a:xfrm>
            <a:off x="4297680" y="3794760"/>
            <a:ext cx="685800" cy="685800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1" name="Niveau 2 texte"/>
          <p:cNvSpPr txBox="1"/>
          <p:nvPr/>
        </p:nvSpPr>
        <p:spPr>
          <a:xfrm>
            <a:off x="4297680" y="37947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Niveau titre 2"/>
          <p:cNvSpPr txBox="1"/>
          <p:nvPr/>
        </p:nvSpPr>
        <p:spPr>
          <a:xfrm>
            <a:off x="5166360" y="37490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Catégorie</a:t>
            </a:r>
            <a:endParaRPr lang="en-US" sz="2000" dirty="0"/>
          </a:p>
        </p:txBody>
      </p:sp>
      <p:sp>
        <p:nvSpPr>
          <p:cNvPr id="13" name="Niveau texte 2"/>
          <p:cNvSpPr txBox="1"/>
          <p:nvPr/>
        </p:nvSpPr>
        <p:spPr>
          <a:xfrm>
            <a:off x="5166360" y="4160520"/>
            <a:ext cx="2697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Les bijoux fantaisie dorés</a:t>
            </a:r>
            <a:endParaRPr lang="en-US" sz="1500" dirty="0"/>
          </a:p>
        </p:txBody>
      </p:sp>
      <p:sp>
        <p:nvSpPr>
          <p:cNvPr id="14" name="Niveau 3 cercle"/>
          <p:cNvSpPr/>
          <p:nvPr/>
        </p:nvSpPr>
        <p:spPr>
          <a:xfrm>
            <a:off x="8046720" y="3794760"/>
            <a:ext cx="685800" cy="685800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5" name="Niveau 3 texte"/>
          <p:cNvSpPr txBox="1"/>
          <p:nvPr/>
        </p:nvSpPr>
        <p:spPr>
          <a:xfrm>
            <a:off x="8046720" y="37947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Niveau titre 3"/>
          <p:cNvSpPr txBox="1"/>
          <p:nvPr/>
        </p:nvSpPr>
        <p:spPr>
          <a:xfrm>
            <a:off x="8915400" y="37490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Niche</a:t>
            </a:r>
            <a:endParaRPr lang="en-US" sz="2000" dirty="0"/>
          </a:p>
        </p:txBody>
      </p:sp>
      <p:sp>
        <p:nvSpPr>
          <p:cNvPr id="17" name="Niveau texte 3"/>
          <p:cNvSpPr txBox="1"/>
          <p:nvPr/>
        </p:nvSpPr>
        <p:spPr>
          <a:xfrm>
            <a:off x="8915400" y="4160520"/>
            <a:ext cx="2697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Bijoux en acier 316L et titane qui ne noircissent pas, de 12,90 à 24,90 €</a:t>
            </a:r>
            <a:endParaRPr lang="en-US" sz="1500" dirty="0"/>
          </a:p>
        </p:txBody>
      </p:sp>
      <p:sp>
        <p:nvSpPr>
          <p:cNvPr id="18" name="Conclusion niche"/>
          <p:cNvSpPr txBox="1"/>
          <p:nvPr/>
        </p:nvSpPr>
        <p:spPr>
          <a:xfrm>
            <a:off x="548640" y="55778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Du plus large au plus précis : on ne parle pas à toutes les femmes, mais à celles dont les bijoux ont déjà noirci, verdi ou irrité.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LA CLIENTE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 qui je vends</a:t>
            </a:r>
            <a:endParaRPr lang="en-US" sz="3600" dirty="0"/>
          </a:p>
        </p:txBody>
      </p:sp>
      <p:sp>
        <p:nvSpPr>
          <p:cNvPr id="4" name="Carte persona"/>
          <p:cNvSpPr/>
          <p:nvPr/>
        </p:nvSpPr>
        <p:spPr>
          <a:xfrm>
            <a:off x="548640" y="1737360"/>
            <a:ext cx="4754880" cy="438912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Persona nom"/>
          <p:cNvSpPr txBox="1"/>
          <p:nvPr/>
        </p:nvSpPr>
        <p:spPr>
          <a:xfrm>
            <a:off x="868680" y="196596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Léa, 28 ans</a:t>
            </a:r>
            <a:endParaRPr lang="en-US" sz="2600" dirty="0"/>
          </a:p>
        </p:txBody>
      </p:sp>
      <p:sp>
        <p:nvSpPr>
          <p:cNvPr id="6" name="Persona détails"/>
          <p:cNvSpPr txBox="1"/>
          <p:nvPr/>
        </p:nvSpPr>
        <p:spPr>
          <a:xfrm>
            <a:off x="868680" y="2651760"/>
            <a:ext cx="41148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Active, en ville, sur Instagram et TikTok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Aime les bijoux fins et dorés, portés tous les jours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Budget « coup de cœur » : moins de 30 €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Achète aussi pour offrir : amie, sœur, maman</a:t>
            </a:r>
            <a:endParaRPr lang="en-US" sz="1600" dirty="0"/>
          </a:p>
        </p:txBody>
      </p:sp>
      <p:sp>
        <p:nvSpPr>
          <p:cNvPr id="7" name="Problème 1 cercle"/>
          <p:cNvSpPr/>
          <p:nvPr/>
        </p:nvSpPr>
        <p:spPr>
          <a:xfrm>
            <a:off x="5806440" y="1783080"/>
            <a:ext cx="594360" cy="594360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8" name="Problème 1 texte"/>
          <p:cNvSpPr txBox="1"/>
          <p:nvPr/>
        </p:nvSpPr>
        <p:spPr>
          <a:xfrm>
            <a:off x="5806440" y="17830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Problème titre 1"/>
          <p:cNvSpPr txBox="1"/>
          <p:nvPr/>
        </p:nvSpPr>
        <p:spPr>
          <a:xfrm>
            <a:off x="6629400" y="17373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Ses bijoux noircissent</a:t>
            </a:r>
            <a:endParaRPr lang="en-US" sz="1800" dirty="0"/>
          </a:p>
        </p:txBody>
      </p:sp>
      <p:sp>
        <p:nvSpPr>
          <p:cNvPr id="10" name="Problème texte 1"/>
          <p:cNvSpPr txBox="1"/>
          <p:nvPr/>
        </p:nvSpPr>
        <p:spPr>
          <a:xfrm>
            <a:off x="6629400" y="214884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Le collier à 5 € perd sa couleur en deux semaines.</a:t>
            </a:r>
            <a:endParaRPr lang="en-US" sz="1500" dirty="0"/>
          </a:p>
        </p:txBody>
      </p:sp>
      <p:sp>
        <p:nvSpPr>
          <p:cNvPr id="11" name="Problème 2 cercle"/>
          <p:cNvSpPr/>
          <p:nvPr/>
        </p:nvSpPr>
        <p:spPr>
          <a:xfrm>
            <a:off x="5806440" y="2880360"/>
            <a:ext cx="594360" cy="594360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2" name="Problème 2 texte"/>
          <p:cNvSpPr txBox="1"/>
          <p:nvPr/>
        </p:nvSpPr>
        <p:spPr>
          <a:xfrm>
            <a:off x="5806440" y="28803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Problème titre 2"/>
          <p:cNvSpPr txBox="1"/>
          <p:nvPr/>
        </p:nvSpPr>
        <p:spPr>
          <a:xfrm>
            <a:off x="6629400" y="283464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Ils laissent une trace verte</a:t>
            </a:r>
            <a:endParaRPr lang="en-US" sz="1800" dirty="0"/>
          </a:p>
        </p:txBody>
      </p:sp>
      <p:sp>
        <p:nvSpPr>
          <p:cNvPr id="14" name="Problème texte 2"/>
          <p:cNvSpPr txBox="1"/>
          <p:nvPr/>
        </p:nvSpPr>
        <p:spPr>
          <a:xfrm>
            <a:off x="6629400" y="324612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Ou ils irritent : oreilles, cou, nez.</a:t>
            </a:r>
            <a:endParaRPr lang="en-US" sz="1500" dirty="0"/>
          </a:p>
        </p:txBody>
      </p:sp>
      <p:sp>
        <p:nvSpPr>
          <p:cNvPr id="15" name="Problème 3 cercle"/>
          <p:cNvSpPr/>
          <p:nvPr/>
        </p:nvSpPr>
        <p:spPr>
          <a:xfrm>
            <a:off x="5806440" y="3977640"/>
            <a:ext cx="594360" cy="594360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6" name="Problème 3 texte"/>
          <p:cNvSpPr txBox="1"/>
          <p:nvPr/>
        </p:nvSpPr>
        <p:spPr>
          <a:xfrm>
            <a:off x="5806440" y="39776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Problème titre 3"/>
          <p:cNvSpPr txBox="1"/>
          <p:nvPr/>
        </p:nvSpPr>
        <p:spPr>
          <a:xfrm>
            <a:off x="6629400" y="393192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Elle n'ose pas se faire percer</a:t>
            </a:r>
            <a:endParaRPr lang="en-US" sz="1800" dirty="0"/>
          </a:p>
        </p:txBody>
      </p:sp>
      <p:sp>
        <p:nvSpPr>
          <p:cNvPr id="18" name="Problème texte 3"/>
          <p:cNvSpPr txBox="1"/>
          <p:nvPr/>
        </p:nvSpPr>
        <p:spPr>
          <a:xfrm>
            <a:off x="6629400" y="43434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Elle aime le style piercing, pas le trou.</a:t>
            </a:r>
            <a:endParaRPr lang="en-US" sz="1500" dirty="0"/>
          </a:p>
        </p:txBody>
      </p:sp>
      <p:sp>
        <p:nvSpPr>
          <p:cNvPr id="19" name="Problème 4 cercle"/>
          <p:cNvSpPr/>
          <p:nvPr/>
        </p:nvSpPr>
        <p:spPr>
          <a:xfrm>
            <a:off x="5806440" y="5074920"/>
            <a:ext cx="594360" cy="594360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20" name="Problème 4 texte"/>
          <p:cNvSpPr txBox="1"/>
          <p:nvPr/>
        </p:nvSpPr>
        <p:spPr>
          <a:xfrm>
            <a:off x="5806440" y="50749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Problème titre 4"/>
          <p:cNvSpPr txBox="1"/>
          <p:nvPr/>
        </p:nvSpPr>
        <p:spPr>
          <a:xfrm>
            <a:off x="6629400" y="50292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Elle cherche un cadeau</a:t>
            </a:r>
            <a:endParaRPr lang="en-US" sz="1800" dirty="0"/>
          </a:p>
        </p:txBody>
      </p:sp>
      <p:sp>
        <p:nvSpPr>
          <p:cNvPr id="22" name="Problème texte 4"/>
          <p:cNvSpPr txBox="1"/>
          <p:nvPr/>
        </p:nvSpPr>
        <p:spPr>
          <a:xfrm>
            <a:off x="6629400" y="54406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Joli, sûr, livré à temps pour la date.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ctr" indent="0" marL="0">
              <a:buNone/>
            </a:pPr>
            <a:r>
              <a:rPr lang="en-US" sz="1400" b="1" spc="400" kern="0" dirty="0">
                <a:solidFill>
                  <a:schemeClr val="accent1"/>
                </a:solidFill>
              </a:rPr>
              <a:t>LA PROMESSE PRODUIT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965960"/>
            <a:ext cx="11064240" cy="21031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ctr"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 Mon bijou aide ma cliente à briller tous les jours, sans qu'il noircisse ni l'irrite. »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463040" y="4297680"/>
            <a:ext cx="9235440" cy="11887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Mon produit aide ma cliente à ___, sans ___.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POURQUOI CETTE NICHE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4 critères d'un bon produit</a:t>
            </a:r>
            <a:endParaRPr lang="en-US" sz="3600" dirty="0"/>
          </a:p>
        </p:txBody>
      </p:sp>
      <p:sp>
        <p:nvSpPr>
          <p:cNvPr id="4" name="Critère 1"/>
          <p:cNvSpPr/>
          <p:nvPr/>
        </p:nvSpPr>
        <p:spPr>
          <a:xfrm>
            <a:off x="548640" y="1737360"/>
            <a:ext cx="5440680" cy="17830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ritère coche 1 cercle"/>
          <p:cNvSpPr/>
          <p:nvPr/>
        </p:nvSpPr>
        <p:spPr>
          <a:xfrm>
            <a:off x="822960" y="2011680"/>
            <a:ext cx="548640" cy="548640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6" name="Critère coche 1 texte"/>
          <p:cNvSpPr txBox="1"/>
          <p:nvPr/>
        </p:nvSpPr>
        <p:spPr>
          <a:xfrm>
            <a:off x="82296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600" dirty="0"/>
          </a:p>
        </p:txBody>
      </p:sp>
      <p:sp>
        <p:nvSpPr>
          <p:cNvPr id="7" name="Critère titre 1"/>
          <p:cNvSpPr txBox="1"/>
          <p:nvPr/>
        </p:nvSpPr>
        <p:spPr>
          <a:xfrm>
            <a:off x="1554480" y="20116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Effet wow</a:t>
            </a:r>
            <a:endParaRPr lang="en-US" sz="2000" dirty="0"/>
          </a:p>
        </p:txBody>
      </p:sp>
      <p:sp>
        <p:nvSpPr>
          <p:cNvPr id="8" name="Critère texte 1"/>
          <p:cNvSpPr txBox="1"/>
          <p:nvPr/>
        </p:nvSpPr>
        <p:spPr>
          <a:xfrm>
            <a:off x="1554480" y="251460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Gros plan doré en vidéo, test sous la douche, bijou sans perçage posé en un geste</a:t>
            </a:r>
            <a:endParaRPr lang="en-US" sz="1500" dirty="0"/>
          </a:p>
        </p:txBody>
      </p:sp>
      <p:sp>
        <p:nvSpPr>
          <p:cNvPr id="9" name="Critère 2"/>
          <p:cNvSpPr/>
          <p:nvPr/>
        </p:nvSpPr>
        <p:spPr>
          <a:xfrm>
            <a:off x="6172200" y="1737360"/>
            <a:ext cx="5440680" cy="17830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ritère coche 2 cercle"/>
          <p:cNvSpPr/>
          <p:nvPr/>
        </p:nvSpPr>
        <p:spPr>
          <a:xfrm>
            <a:off x="6446520" y="2011680"/>
            <a:ext cx="548640" cy="548640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1" name="Critère coche 2 texte"/>
          <p:cNvSpPr txBox="1"/>
          <p:nvPr/>
        </p:nvSpPr>
        <p:spPr>
          <a:xfrm>
            <a:off x="644652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Critère titre 2"/>
          <p:cNvSpPr txBox="1"/>
          <p:nvPr/>
        </p:nvSpPr>
        <p:spPr>
          <a:xfrm>
            <a:off x="7178040" y="20116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Problème-solution</a:t>
            </a:r>
            <a:endParaRPr lang="en-US" sz="2000" dirty="0"/>
          </a:p>
        </p:txBody>
      </p:sp>
      <p:sp>
        <p:nvSpPr>
          <p:cNvPr id="13" name="Critère texte 2"/>
          <p:cNvSpPr txBox="1"/>
          <p:nvPr/>
        </p:nvSpPr>
        <p:spPr>
          <a:xfrm>
            <a:off x="7178040" y="251460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Le bijou qui noircit, verdit ou irrite est une gêne connue de presque toutes les femmes</a:t>
            </a:r>
            <a:endParaRPr lang="en-US" sz="1500" dirty="0"/>
          </a:p>
        </p:txBody>
      </p:sp>
      <p:sp>
        <p:nvSpPr>
          <p:cNvPr id="14" name="Critère 3"/>
          <p:cNvSpPr/>
          <p:nvPr/>
        </p:nvSpPr>
        <p:spPr>
          <a:xfrm>
            <a:off x="548640" y="3703320"/>
            <a:ext cx="5440680" cy="17830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ritère coche 3 cercle"/>
          <p:cNvSpPr/>
          <p:nvPr/>
        </p:nvSpPr>
        <p:spPr>
          <a:xfrm>
            <a:off x="822960" y="3977640"/>
            <a:ext cx="548640" cy="548640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6" name="Critère coche 3 texte"/>
          <p:cNvSpPr txBox="1"/>
          <p:nvPr/>
        </p:nvSpPr>
        <p:spPr>
          <a:xfrm>
            <a:off x="822960" y="3977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600" dirty="0"/>
          </a:p>
        </p:txBody>
      </p:sp>
      <p:sp>
        <p:nvSpPr>
          <p:cNvPr id="17" name="Critère titre 3"/>
          <p:cNvSpPr txBox="1"/>
          <p:nvPr/>
        </p:nvSpPr>
        <p:spPr>
          <a:xfrm>
            <a:off x="1554480" y="39776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Marge</a:t>
            </a:r>
            <a:endParaRPr lang="en-US" sz="2000" dirty="0"/>
          </a:p>
        </p:txBody>
      </p:sp>
      <p:sp>
        <p:nvSpPr>
          <p:cNvPr id="18" name="Critère texte 3"/>
          <p:cNvSpPr txBox="1"/>
          <p:nvPr/>
        </p:nvSpPr>
        <p:spPr>
          <a:xfrm>
            <a:off x="1554480" y="448056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Collier Marguerite : 6,64 € livré, vendu 24,90 €, soit 17,51 € avant la pub</a:t>
            </a:r>
            <a:endParaRPr lang="en-US" sz="1500" dirty="0"/>
          </a:p>
        </p:txBody>
      </p:sp>
      <p:sp>
        <p:nvSpPr>
          <p:cNvPr id="19" name="Critère 4"/>
          <p:cNvSpPr/>
          <p:nvPr/>
        </p:nvSpPr>
        <p:spPr>
          <a:xfrm>
            <a:off x="6172200" y="3703320"/>
            <a:ext cx="5440680" cy="17830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Critère coche 4 cercle"/>
          <p:cNvSpPr/>
          <p:nvPr/>
        </p:nvSpPr>
        <p:spPr>
          <a:xfrm>
            <a:off x="6446520" y="3977640"/>
            <a:ext cx="548640" cy="548640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21" name="Critère coche 4 texte"/>
          <p:cNvSpPr txBox="1"/>
          <p:nvPr/>
        </p:nvSpPr>
        <p:spPr>
          <a:xfrm>
            <a:off x="6446520" y="3977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600" dirty="0"/>
          </a:p>
        </p:txBody>
      </p:sp>
      <p:sp>
        <p:nvSpPr>
          <p:cNvPr id="22" name="Critère titre 4"/>
          <p:cNvSpPr txBox="1"/>
          <p:nvPr/>
        </p:nvSpPr>
        <p:spPr>
          <a:xfrm>
            <a:off x="7178040" y="39776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Volume</a:t>
            </a:r>
            <a:endParaRPr lang="en-US" sz="2000" dirty="0"/>
          </a:p>
        </p:txBody>
      </p:sp>
      <p:sp>
        <p:nvSpPr>
          <p:cNvPr id="23" name="Critère texte 4"/>
          <p:cNvSpPr txBox="1"/>
          <p:nvPr/>
        </p:nvSpPr>
        <p:spPr>
          <a:xfrm>
            <a:off x="7178040" y="448056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Achat coup de cœur sous 30 €, aucune taille, cadeau toute l'année</a:t>
            </a:r>
            <a:endParaRPr lang="en-US" sz="1500" dirty="0"/>
          </a:p>
        </p:txBody>
      </p:sp>
      <p:sp>
        <p:nvSpPr>
          <p:cNvPr id="24" name="Verdict critères"/>
          <p:cNvSpPr txBox="1"/>
          <p:nvPr/>
        </p:nvSpPr>
        <p:spPr>
          <a:xfrm>
            <a:off x="548640" y="5760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4 critères sur 4. Un bon produit en remplit au moins 3.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COMMENT J'Y SUIS ARRIVÉ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Trois idées testées, une seule retenue</a:t>
            </a:r>
            <a:endParaRPr lang="en-US" sz="3600" dirty="0"/>
          </a:p>
        </p:txBody>
      </p:sp>
      <p:graphicFrame>
        <p:nvGraphicFramePr>
          <p:cNvPr id="7" name="Tableau idé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6492240"/>
                <a:gridCol w="164592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Idée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Problème rencontré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Verdict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Déco maison, 62 produits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Trop large : on dirait un bazar, le client ne sait pas ce qu'on vend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3"/>
                          </a:solidFill>
                        </a:rPr>
                        <a:t>Écartée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Rideaux thermiques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Trop lourds : 52 à 61 € la paire livrée depuis la Chine, pour un prix de marché de 80 à 100 €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3"/>
                          </a:solidFill>
                        </a:rPr>
                        <a:t>Écartée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Pyjamas de Noël famille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Beaucoup de tailles, donc des retours, et seulement 6 semaines de saison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3"/>
                          </a:solidFill>
                        </a:rPr>
                        <a:t>Écartée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Bijoux 316L et titane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Quelques grammes, aucune taille, moins de 30 €, toute l'année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2"/>
                          </a:solidFill>
                        </a:rPr>
                        <a:t>Retenue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Leçon"/>
          <p:cNvSpPr txBox="1"/>
          <p:nvPr/>
        </p:nvSpPr>
        <p:spPr>
          <a:xfrm>
            <a:off x="548640" y="5486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tx2"/>
                </a:solidFill>
              </a:rPr>
              <a:t>Leçon : un produit lourd ou cher ne s'achète pas sur un coup de cœur. Le bijou, si.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LE PRODUIT HÉROS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collier Marguerite</a:t>
            </a:r>
            <a:endParaRPr lang="en-US" sz="3600" dirty="0"/>
          </a:p>
        </p:txBody>
      </p:sp>
      <p:sp>
        <p:nvSpPr>
          <p:cNvPr id="4" name="Chiffre 1"/>
          <p:cNvSpPr/>
          <p:nvPr/>
        </p:nvSpPr>
        <p:spPr>
          <a:xfrm>
            <a:off x="548640" y="1783080"/>
            <a:ext cx="3520440" cy="210312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hiffre valeur 1"/>
          <p:cNvSpPr txBox="1"/>
          <p:nvPr/>
        </p:nvSpPr>
        <p:spPr>
          <a:xfrm>
            <a:off x="731520" y="1965960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6,64 €</a:t>
            </a:r>
            <a:endParaRPr lang="en-US" sz="4800" dirty="0"/>
          </a:p>
        </p:txBody>
      </p:sp>
      <p:sp>
        <p:nvSpPr>
          <p:cNvPr id="6" name="Chiffre libellé 1"/>
          <p:cNvSpPr txBox="1"/>
          <p:nvPr/>
        </p:nvSpPr>
        <p:spPr>
          <a:xfrm>
            <a:off x="731520" y="301752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coût livré en France (CJ)</a:t>
            </a:r>
            <a:endParaRPr lang="en-US" sz="1500" dirty="0"/>
          </a:p>
        </p:txBody>
      </p:sp>
      <p:sp>
        <p:nvSpPr>
          <p:cNvPr id="7" name="Chiffre 2"/>
          <p:cNvSpPr/>
          <p:nvPr/>
        </p:nvSpPr>
        <p:spPr>
          <a:xfrm>
            <a:off x="4297680" y="1783080"/>
            <a:ext cx="3520440" cy="210312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Chiffre valeur 2"/>
          <p:cNvSpPr txBox="1"/>
          <p:nvPr/>
        </p:nvSpPr>
        <p:spPr>
          <a:xfrm>
            <a:off x="4480560" y="1965960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24,90 €</a:t>
            </a:r>
            <a:endParaRPr lang="en-US" sz="4800" dirty="0"/>
          </a:p>
        </p:txBody>
      </p:sp>
      <p:sp>
        <p:nvSpPr>
          <p:cNvPr id="9" name="Chiffre libellé 2"/>
          <p:cNvSpPr txBox="1"/>
          <p:nvPr/>
        </p:nvSpPr>
        <p:spPr>
          <a:xfrm>
            <a:off x="4480560" y="301752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prix de vente</a:t>
            </a:r>
            <a:endParaRPr lang="en-US" sz="1500" dirty="0"/>
          </a:p>
        </p:txBody>
      </p:sp>
      <p:sp>
        <p:nvSpPr>
          <p:cNvPr id="10" name="Chiffre 3"/>
          <p:cNvSpPr/>
          <p:nvPr/>
        </p:nvSpPr>
        <p:spPr>
          <a:xfrm>
            <a:off x="8046720" y="1783080"/>
            <a:ext cx="3520440" cy="21031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1" name="Chiffre valeur 3"/>
          <p:cNvSpPr txBox="1"/>
          <p:nvPr/>
        </p:nvSpPr>
        <p:spPr>
          <a:xfrm>
            <a:off x="8229600" y="1965960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17,51 €</a:t>
            </a:r>
            <a:endParaRPr lang="en-US" sz="4800" dirty="0"/>
          </a:p>
        </p:txBody>
      </p:sp>
      <p:sp>
        <p:nvSpPr>
          <p:cNvPr id="12" name="Chiffre libellé 3"/>
          <p:cNvSpPr txBox="1"/>
          <p:nvPr/>
        </p:nvSpPr>
        <p:spPr>
          <a:xfrm>
            <a:off x="8229600" y="301752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reste avant la pub, sans TVA</a:t>
            </a:r>
            <a:endParaRPr lang="en-US" sz="1500" dirty="0"/>
          </a:p>
        </p:txBody>
      </p:sp>
      <p:sp>
        <p:nvSpPr>
          <p:cNvPr id="13" name="Détails héros"/>
          <p:cNvSpPr txBox="1"/>
          <p:nvPr/>
        </p:nvSpPr>
        <p:spPr>
          <a:xfrm>
            <a:off x="548640" y="4206240"/>
            <a:ext cx="11064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Acier titane plaqué or, chaîne fine semée de marguerites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Référence CJ : CJLX171494501AZ, ligne « Jewel Shipping » avec suivi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Prix fixé à environ 3,7 fois le coût livré (minimum conseillé : 3 fois)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À vérifier : 7 jours sous la douche avec l'échantillon avant d'écrire « résiste à l'eau »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LA GAMME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 produits, un seul style</a:t>
            </a:r>
            <a:endParaRPr lang="en-US" sz="3600" dirty="0"/>
          </a:p>
        </p:txBody>
      </p:sp>
      <p:sp>
        <p:nvSpPr>
          <p:cNvPr id="4" name="Gamme Bijoux cercle"/>
          <p:cNvSpPr/>
          <p:nvPr/>
        </p:nvSpPr>
        <p:spPr>
          <a:xfrm>
            <a:off x="548640" y="1737360"/>
            <a:ext cx="640080" cy="640080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5" name="Gamme Bijoux texte"/>
          <p:cNvSpPr txBox="1"/>
          <p:nvPr/>
        </p:nvSpPr>
        <p:spPr>
          <a:xfrm>
            <a:off x="548640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600" dirty="0"/>
          </a:p>
        </p:txBody>
      </p:sp>
      <p:sp>
        <p:nvSpPr>
          <p:cNvPr id="6" name="Gamme titre Bijoux"/>
          <p:cNvSpPr txBox="1"/>
          <p:nvPr/>
        </p:nvSpPr>
        <p:spPr>
          <a:xfrm>
            <a:off x="1417320" y="169164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Bijoux</a:t>
            </a:r>
            <a:endParaRPr lang="en-US" sz="1900" dirty="0"/>
          </a:p>
        </p:txBody>
      </p:sp>
      <p:sp>
        <p:nvSpPr>
          <p:cNvPr id="7" name="Gamme détail Bijoux"/>
          <p:cNvSpPr txBox="1"/>
          <p:nvPr/>
        </p:nvSpPr>
        <p:spPr>
          <a:xfrm>
            <a:off x="4480560" y="169164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Colliers, bracelets, boucles d'oreilles</a:t>
            </a:r>
            <a:endParaRPr lang="en-US" sz="1500" dirty="0"/>
          </a:p>
        </p:txBody>
      </p:sp>
      <p:sp>
        <p:nvSpPr>
          <p:cNvPr id="8" name="Gamme rôle Bijoux"/>
          <p:cNvSpPr txBox="1"/>
          <p:nvPr/>
        </p:nvSpPr>
        <p:spPr>
          <a:xfrm>
            <a:off x="8686800" y="169164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1"/>
                </a:solidFill>
              </a:rPr>
              <a:t>Produits héros, en pub</a:t>
            </a:r>
            <a:endParaRPr lang="en-US" sz="1500" dirty="0"/>
          </a:p>
        </p:txBody>
      </p:sp>
      <p:sp>
        <p:nvSpPr>
          <p:cNvPr id="9" name="Gamme Piercings cercle"/>
          <p:cNvSpPr/>
          <p:nvPr/>
        </p:nvSpPr>
        <p:spPr>
          <a:xfrm>
            <a:off x="548640" y="2514600"/>
            <a:ext cx="640080" cy="640080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0" name="Gamme Piercings texte"/>
          <p:cNvSpPr txBox="1"/>
          <p:nvPr/>
        </p:nvSpPr>
        <p:spPr>
          <a:xfrm>
            <a:off x="548640" y="2514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1" name="Gamme titre Piercings"/>
          <p:cNvSpPr txBox="1"/>
          <p:nvPr/>
        </p:nvSpPr>
        <p:spPr>
          <a:xfrm>
            <a:off x="1417320" y="246888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Piercings</a:t>
            </a:r>
            <a:endParaRPr lang="en-US" sz="1900" dirty="0"/>
          </a:p>
        </p:txBody>
      </p:sp>
      <p:sp>
        <p:nvSpPr>
          <p:cNvPr id="12" name="Gamme détail Piercings"/>
          <p:cNvSpPr txBox="1"/>
          <p:nvPr/>
        </p:nvSpPr>
        <p:spPr>
          <a:xfrm>
            <a:off x="4480560" y="246888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Titane, ou sans perçage</a:t>
            </a:r>
            <a:endParaRPr lang="en-US" sz="1500" dirty="0"/>
          </a:p>
        </p:txBody>
      </p:sp>
      <p:sp>
        <p:nvSpPr>
          <p:cNvPr id="13" name="Gamme rôle Piercings"/>
          <p:cNvSpPr txBox="1"/>
          <p:nvPr/>
        </p:nvSpPr>
        <p:spPr>
          <a:xfrm>
            <a:off x="8686800" y="246888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1"/>
                </a:solidFill>
              </a:rPr>
              <a:t>Produit d'appel n°3</a:t>
            </a:r>
            <a:endParaRPr lang="en-US" sz="1500" dirty="0"/>
          </a:p>
        </p:txBody>
      </p:sp>
      <p:sp>
        <p:nvSpPr>
          <p:cNvPr id="14" name="Gamme Foulards et cheveux cercle"/>
          <p:cNvSpPr/>
          <p:nvPr/>
        </p:nvSpPr>
        <p:spPr>
          <a:xfrm>
            <a:off x="548640" y="3291840"/>
            <a:ext cx="640080" cy="640080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5" name="Gamme Foulards et cheveux texte"/>
          <p:cNvSpPr txBox="1"/>
          <p:nvPr/>
        </p:nvSpPr>
        <p:spPr>
          <a:xfrm>
            <a:off x="548640" y="3291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6" name="Gamme titre Foulards et cheveux"/>
          <p:cNvSpPr txBox="1"/>
          <p:nvPr/>
        </p:nvSpPr>
        <p:spPr>
          <a:xfrm>
            <a:off x="1417320" y="32461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Foulards et cheveux</a:t>
            </a:r>
            <a:endParaRPr lang="en-US" sz="1900" dirty="0"/>
          </a:p>
        </p:txBody>
      </p:sp>
      <p:sp>
        <p:nvSpPr>
          <p:cNvPr id="17" name="Gamme détail Foulards et cheveux"/>
          <p:cNvSpPr txBox="1"/>
          <p:nvPr/>
        </p:nvSpPr>
        <p:spPr>
          <a:xfrm>
            <a:off x="4480560" y="324612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Foulards satinés, pinces, barrettes</a:t>
            </a:r>
            <a:endParaRPr lang="en-US" sz="1500" dirty="0"/>
          </a:p>
        </p:txBody>
      </p:sp>
      <p:sp>
        <p:nvSpPr>
          <p:cNvPr id="18" name="Gamme rôle Foulards et cheveux"/>
          <p:cNvSpPr txBox="1"/>
          <p:nvPr/>
        </p:nvSpPr>
        <p:spPr>
          <a:xfrm>
            <a:off x="8686800" y="324612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1"/>
                </a:solidFill>
              </a:rPr>
              <a:t>Pour compléter le panier</a:t>
            </a:r>
            <a:endParaRPr lang="en-US" sz="1500" dirty="0"/>
          </a:p>
        </p:txBody>
      </p:sp>
      <p:sp>
        <p:nvSpPr>
          <p:cNvPr id="19" name="Gamme Sacs cercle"/>
          <p:cNvSpPr/>
          <p:nvPr/>
        </p:nvSpPr>
        <p:spPr>
          <a:xfrm>
            <a:off x="548640" y="4069080"/>
            <a:ext cx="640080" cy="640080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20" name="Gamme Sacs texte"/>
          <p:cNvSpPr txBox="1"/>
          <p:nvPr/>
        </p:nvSpPr>
        <p:spPr>
          <a:xfrm>
            <a:off x="548640" y="4069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21" name="Gamme titre Sacs"/>
          <p:cNvSpPr txBox="1"/>
          <p:nvPr/>
        </p:nvSpPr>
        <p:spPr>
          <a:xfrm>
            <a:off x="1417320" y="402336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Sacs</a:t>
            </a:r>
            <a:endParaRPr lang="en-US" sz="1900" dirty="0"/>
          </a:p>
        </p:txBody>
      </p:sp>
      <p:sp>
        <p:nvSpPr>
          <p:cNvPr id="22" name="Gamme détail Sacs"/>
          <p:cNvSpPr txBox="1"/>
          <p:nvPr/>
        </p:nvSpPr>
        <p:spPr>
          <a:xfrm>
            <a:off x="4480560" y="402336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Mini sac, pochette, sans logo</a:t>
            </a:r>
            <a:endParaRPr lang="en-US" sz="1500" dirty="0"/>
          </a:p>
        </p:txBody>
      </p:sp>
      <p:sp>
        <p:nvSpPr>
          <p:cNvPr id="23" name="Gamme rôle Sacs"/>
          <p:cNvSpPr txBox="1"/>
          <p:nvPr/>
        </p:nvSpPr>
        <p:spPr>
          <a:xfrm>
            <a:off x="8686800" y="40233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1"/>
                </a:solidFill>
              </a:rPr>
              <a:t>Pour monter le panier</a:t>
            </a:r>
            <a:endParaRPr lang="en-US" sz="1500" dirty="0"/>
          </a:p>
        </p:txBody>
      </p:sp>
      <p:sp>
        <p:nvSpPr>
          <p:cNvPr id="24" name="Gamme Parures cercle"/>
          <p:cNvSpPr/>
          <p:nvPr/>
        </p:nvSpPr>
        <p:spPr>
          <a:xfrm>
            <a:off x="548640" y="4846320"/>
            <a:ext cx="640080" cy="640080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25" name="Gamme Parures texte"/>
          <p:cNvSpPr txBox="1"/>
          <p:nvPr/>
        </p:nvSpPr>
        <p:spPr>
          <a:xfrm>
            <a:off x="548640" y="4846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26" name="Gamme titre Parures"/>
          <p:cNvSpPr txBox="1"/>
          <p:nvPr/>
        </p:nvSpPr>
        <p:spPr>
          <a:xfrm>
            <a:off x="1417320" y="480060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Parures</a:t>
            </a:r>
            <a:endParaRPr lang="en-US" sz="1900" dirty="0"/>
          </a:p>
        </p:txBody>
      </p:sp>
      <p:sp>
        <p:nvSpPr>
          <p:cNvPr id="27" name="Gamme détail Parures"/>
          <p:cNvSpPr txBox="1"/>
          <p:nvPr/>
        </p:nvSpPr>
        <p:spPr>
          <a:xfrm>
            <a:off x="4480560" y="480060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Trois pièces en écrin</a:t>
            </a:r>
            <a:endParaRPr lang="en-US" sz="1500" dirty="0"/>
          </a:p>
        </p:txBody>
      </p:sp>
      <p:sp>
        <p:nvSpPr>
          <p:cNvPr id="28" name="Gamme rôle Parures"/>
          <p:cNvSpPr txBox="1"/>
          <p:nvPr/>
        </p:nvSpPr>
        <p:spPr>
          <a:xfrm>
            <a:off x="8686800" y="480060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1"/>
                </a:solidFill>
              </a:rPr>
              <a:t>Le cadeau</a:t>
            </a:r>
            <a:endParaRPr lang="en-US" sz="1500" dirty="0"/>
          </a:p>
        </p:txBody>
      </p:sp>
      <p:sp>
        <p:nvSpPr>
          <p:cNvPr id="29" name="Règle gamme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Règle : la cohérence vient du style (doré, crème, noir), pas du type de produit. Aucun logo de marque, « plaqué or » et « satiné », jamais « or » ou « soie » sans preuve.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LE PANIER MOYEN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marge vient des ensembles</a:t>
            </a:r>
            <a:endParaRPr lang="en-US" sz="3600" dirty="0"/>
          </a:p>
        </p:txBody>
      </p:sp>
      <p:graphicFrame>
        <p:nvGraphicFramePr>
          <p:cNvPr id="4" name="Graphique marges" descr=""/>
          <p:cNvGraphicFramePr/>
          <p:nvPr/>
        </p:nvGraphicFramePr>
        <p:xfrm>
          <a:off x="548640" y="1691640"/>
          <a:ext cx="658368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Levier titre 1"/>
          <p:cNvSpPr txBox="1"/>
          <p:nvPr/>
        </p:nvSpPr>
        <p:spPr>
          <a:xfrm>
            <a:off x="7498080" y="1783080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À porter avec</a:t>
            </a:r>
            <a:endParaRPr lang="en-US" sz="1800" dirty="0"/>
          </a:p>
        </p:txBody>
      </p:sp>
      <p:sp>
        <p:nvSpPr>
          <p:cNvPr id="6" name="Levier texte 1"/>
          <p:cNvSpPr txBox="1"/>
          <p:nvPr/>
        </p:nvSpPr>
        <p:spPr>
          <a:xfrm>
            <a:off x="7498080" y="2167128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La pièce assortie proposée sur la fiche, à un prix d'ensemble</a:t>
            </a:r>
            <a:endParaRPr lang="en-US" sz="1500" dirty="0"/>
          </a:p>
        </p:txBody>
      </p:sp>
      <p:sp>
        <p:nvSpPr>
          <p:cNvPr id="7" name="Levier titre 2"/>
          <p:cNvSpPr txBox="1"/>
          <p:nvPr/>
        </p:nvSpPr>
        <p:spPr>
          <a:xfrm>
            <a:off x="7498080" y="2862072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Parures en écrin</a:t>
            </a:r>
            <a:endParaRPr lang="en-US" sz="1800" dirty="0"/>
          </a:p>
        </p:txBody>
      </p:sp>
      <p:sp>
        <p:nvSpPr>
          <p:cNvPr id="8" name="Levier texte 2"/>
          <p:cNvSpPr txBox="1"/>
          <p:nvPr/>
        </p:nvSpPr>
        <p:spPr>
          <a:xfrm>
            <a:off x="7498080" y="324612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Trois pièces réunies, prêtes à offrir</a:t>
            </a:r>
            <a:endParaRPr lang="en-US" sz="1500" dirty="0"/>
          </a:p>
        </p:txBody>
      </p:sp>
      <p:sp>
        <p:nvSpPr>
          <p:cNvPr id="9" name="Levier titre 3"/>
          <p:cNvSpPr txBox="1"/>
          <p:nvPr/>
        </p:nvSpPr>
        <p:spPr>
          <a:xfrm>
            <a:off x="7498080" y="3941064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Coffret à composer</a:t>
            </a:r>
            <a:endParaRPr lang="en-US" sz="1800" dirty="0"/>
          </a:p>
        </p:txBody>
      </p:sp>
      <p:sp>
        <p:nvSpPr>
          <p:cNvPr id="10" name="Levier texte 3"/>
          <p:cNvSpPr txBox="1"/>
          <p:nvPr/>
        </p:nvSpPr>
        <p:spPr>
          <a:xfrm>
            <a:off x="7498080" y="432511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3 pièces à 29,90 €, 5 pièces à 44,90 €</a:t>
            </a:r>
            <a:endParaRPr lang="en-US" sz="1500" dirty="0"/>
          </a:p>
        </p:txBody>
      </p:sp>
      <p:sp>
        <p:nvSpPr>
          <p:cNvPr id="11" name="Levier titre 4"/>
          <p:cNvSpPr txBox="1"/>
          <p:nvPr/>
        </p:nvSpPr>
        <p:spPr>
          <a:xfrm>
            <a:off x="7498080" y="5020056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Livraison offerte</a:t>
            </a:r>
            <a:endParaRPr lang="en-US" sz="1800" dirty="0"/>
          </a:p>
        </p:txBody>
      </p:sp>
      <p:sp>
        <p:nvSpPr>
          <p:cNvPr id="12" name="Levier texte 4"/>
          <p:cNvSpPr txBox="1"/>
          <p:nvPr/>
        </p:nvSpPr>
        <p:spPr>
          <a:xfrm>
            <a:off x="7498080" y="5404104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À partir de 35 €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CONFIANCE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urgence vraie, un ton de maison de bijoux</a:t>
            </a:r>
            <a:endParaRPr lang="en-US" sz="3600" dirty="0"/>
          </a:p>
        </p:txBody>
      </p:sp>
      <p:sp>
        <p:nvSpPr>
          <p:cNvPr id="4" name="Carte urgence"/>
          <p:cNvSpPr/>
          <p:nvPr/>
        </p:nvSpPr>
        <p:spPr>
          <a:xfrm>
            <a:off x="548640" y="1737360"/>
            <a:ext cx="5440680" cy="438912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Urgence titre"/>
          <p:cNvSpPr txBox="1"/>
          <p:nvPr/>
        </p:nvSpPr>
        <p:spPr>
          <a:xfrm>
            <a:off x="868680" y="19202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L'urgence, toujours vraie</a:t>
            </a:r>
            <a:endParaRPr lang="en-US" sz="2000" dirty="0"/>
          </a:p>
        </p:txBody>
      </p:sp>
      <p:sp>
        <p:nvSpPr>
          <p:cNvPr id="6" name="Urgence liste"/>
          <p:cNvSpPr txBox="1"/>
          <p:nvPr/>
        </p:nvSpPr>
        <p:spPr>
          <a:xfrm>
            <a:off x="868680" y="2514600"/>
            <a:ext cx="48463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Noël : « commandez avant le 8 décembre », calculé sur le vrai délai de livraison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Date de livraison estimée sur chaque fiche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Fête des mères, Saint-Valentin : de vraies dates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Jamais de faux compte à rebours, faux stock ni faux avis</a:t>
            </a:r>
            <a:endParaRPr lang="en-US" sz="1500" dirty="0"/>
          </a:p>
        </p:txBody>
      </p:sp>
      <p:graphicFrame>
        <p:nvGraphicFramePr>
          <p:cNvPr id="11" name="Tableau to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737360"/>
          <a:ext cx="52578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880360"/>
              </a:tblGrid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On n'écrit pas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On écrit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Best-seller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Les incontournables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−30 %, vous économisez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À porter avec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Box, pack, lot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Coffret, écrin, parure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Dépêchez-vous !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Pour Noël, commandez avant le…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Émojis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Aucun émoji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PUBLICITÉ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Tester petit, décider sur les chiffres</a:t>
            </a:r>
            <a:endParaRPr lang="en-US" sz="3600" dirty="0"/>
          </a:p>
        </p:txBody>
      </p:sp>
      <p:sp>
        <p:nvSpPr>
          <p:cNvPr id="4" name="Vidéo 1 cercle"/>
          <p:cNvSpPr/>
          <p:nvPr/>
        </p:nvSpPr>
        <p:spPr>
          <a:xfrm>
            <a:off x="548640" y="1783080"/>
            <a:ext cx="594360" cy="594360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5" name="Vidéo 1 texte"/>
          <p:cNvSpPr txBox="1"/>
          <p:nvPr/>
        </p:nvSpPr>
        <p:spPr>
          <a:xfrm>
            <a:off x="548640" y="17830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Vidéo titre 1"/>
          <p:cNvSpPr txBox="1"/>
          <p:nvPr/>
        </p:nvSpPr>
        <p:spPr>
          <a:xfrm>
            <a:off x="1371600" y="173736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« Un bijou doré qui ne noircit pas. »</a:t>
            </a:r>
            <a:endParaRPr lang="en-US" sz="1700" dirty="0"/>
          </a:p>
        </p:txBody>
      </p:sp>
      <p:sp>
        <p:nvSpPr>
          <p:cNvPr id="7" name="Vidéo texte 1"/>
          <p:cNvSpPr txBox="1"/>
          <p:nvPr/>
        </p:nvSpPr>
        <p:spPr>
          <a:xfrm>
            <a:off x="1371600" y="2167128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Le collier porté, puis sous l'eau</a:t>
            </a:r>
            <a:endParaRPr lang="en-US" sz="1500" dirty="0"/>
          </a:p>
        </p:txBody>
      </p:sp>
      <p:sp>
        <p:nvSpPr>
          <p:cNvPr id="8" name="Vidéo 2 cercle"/>
          <p:cNvSpPr/>
          <p:nvPr/>
        </p:nvSpPr>
        <p:spPr>
          <a:xfrm>
            <a:off x="548640" y="2971800"/>
            <a:ext cx="594360" cy="594360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9" name="Vidéo 2 texte"/>
          <p:cNvSpPr txBox="1"/>
          <p:nvPr/>
        </p:nvSpPr>
        <p:spPr>
          <a:xfrm>
            <a:off x="548640" y="29718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Vidéo titre 2"/>
          <p:cNvSpPr txBox="1"/>
          <p:nvPr/>
        </p:nvSpPr>
        <p:spPr>
          <a:xfrm>
            <a:off x="1371600" y="292608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« 7 jours sous la douche. »</a:t>
            </a:r>
            <a:endParaRPr lang="en-US" sz="1700" dirty="0"/>
          </a:p>
        </p:txBody>
      </p:sp>
      <p:sp>
        <p:nvSpPr>
          <p:cNvPr id="11" name="Vidéo texte 2"/>
          <p:cNvSpPr txBox="1"/>
          <p:nvPr/>
        </p:nvSpPr>
        <p:spPr>
          <a:xfrm>
            <a:off x="1371600" y="3355848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Jour 1, jour 3, jour 7 (si c'est vrai)</a:t>
            </a:r>
            <a:endParaRPr lang="en-US" sz="1500" dirty="0"/>
          </a:p>
        </p:txBody>
      </p:sp>
      <p:sp>
        <p:nvSpPr>
          <p:cNvPr id="12" name="Vidéo 3 cercle"/>
          <p:cNvSpPr/>
          <p:nvPr/>
        </p:nvSpPr>
        <p:spPr>
          <a:xfrm>
            <a:off x="548640" y="4160520"/>
            <a:ext cx="594360" cy="594360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3" name="Vidéo 3 texte"/>
          <p:cNvSpPr txBox="1"/>
          <p:nvPr/>
        </p:nvSpPr>
        <p:spPr>
          <a:xfrm>
            <a:off x="548640" y="41605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Vidéo titre 3"/>
          <p:cNvSpPr txBox="1"/>
          <p:nvPr/>
        </p:nvSpPr>
        <p:spPr>
          <a:xfrm>
            <a:off x="1371600" y="411480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« L'allure d'un piercing, sans perçage. »</a:t>
            </a:r>
            <a:endParaRPr lang="en-US" sz="1700" dirty="0"/>
          </a:p>
        </p:txBody>
      </p:sp>
      <p:sp>
        <p:nvSpPr>
          <p:cNvPr id="15" name="Vidéo texte 3"/>
          <p:cNvSpPr txBox="1"/>
          <p:nvPr/>
        </p:nvSpPr>
        <p:spPr>
          <a:xfrm>
            <a:off x="1371600" y="4544568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L'anneau posé en un geste</a:t>
            </a:r>
            <a:endParaRPr lang="en-US" sz="1500" dirty="0"/>
          </a:p>
        </p:txBody>
      </p:sp>
      <p:sp>
        <p:nvSpPr>
          <p:cNvPr id="16" name="Carte test"/>
          <p:cNvSpPr/>
          <p:nvPr/>
        </p:nvSpPr>
        <p:spPr>
          <a:xfrm>
            <a:off x="6675120" y="1737360"/>
            <a:ext cx="4937760" cy="43891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7" name="Test titre"/>
          <p:cNvSpPr txBox="1"/>
          <p:nvPr/>
        </p:nvSpPr>
        <p:spPr>
          <a:xfrm>
            <a:off x="6995160" y="192024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test</a:t>
            </a:r>
            <a:endParaRPr lang="en-US" sz="2000" dirty="0"/>
          </a:p>
        </p:txBody>
      </p:sp>
      <p:sp>
        <p:nvSpPr>
          <p:cNvPr id="18" name="Test liste"/>
          <p:cNvSpPr txBox="1"/>
          <p:nvPr/>
        </p:nvSpPr>
        <p:spPr>
          <a:xfrm>
            <a:off x="6995160" y="2514600"/>
            <a:ext cx="43891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3 vidéos × 10 € par jour, pendant 3 à 4 jours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Femmes de 18 à 45 ans, en France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On garde : clic &gt; 1,5 %, coût par clic &lt; 0,60 €, coût par achat &lt; 15 €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On coupe une vidéo sans ajout au panier après 25 €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PROCHAINES ÉTAPES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 site à la première vente</a:t>
            </a:r>
            <a:endParaRPr lang="en-US" sz="3600" dirty="0"/>
          </a:p>
        </p:txBody>
      </p:sp>
      <p:sp>
        <p:nvSpPr>
          <p:cNvPr id="4" name="Étape 1 cercle"/>
          <p:cNvSpPr/>
          <p:nvPr/>
        </p:nvSpPr>
        <p:spPr>
          <a:xfrm>
            <a:off x="1234440" y="2011680"/>
            <a:ext cx="731520" cy="731520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5" name="Étape 1 texte"/>
          <p:cNvSpPr txBox="1"/>
          <p:nvPr/>
        </p:nvSpPr>
        <p:spPr>
          <a:xfrm>
            <a:off x="1234440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Liaison 1"/>
          <p:cNvSpPr/>
          <p:nvPr/>
        </p:nvSpPr>
        <p:spPr>
          <a:xfrm>
            <a:off x="2057400" y="2377440"/>
            <a:ext cx="1371600" cy="0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7" name="Étape titre 1"/>
          <p:cNvSpPr txBox="1"/>
          <p:nvPr/>
        </p:nvSpPr>
        <p:spPr>
          <a:xfrm>
            <a:off x="548640" y="29718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Nom et domaine</a:t>
            </a:r>
            <a:endParaRPr lang="en-US" sz="1700" dirty="0"/>
          </a:p>
        </p:txBody>
      </p:sp>
      <p:sp>
        <p:nvSpPr>
          <p:cNvPr id="8" name="Étape texte 1"/>
          <p:cNvSpPr txBox="1"/>
          <p:nvPr/>
        </p:nvSpPr>
        <p:spPr>
          <a:xfrm>
            <a:off x="548640" y="347472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Vérifier VAURE à l'INPI, réserver vaurestudio.com</a:t>
            </a:r>
            <a:endParaRPr lang="en-US" sz="1400" dirty="0"/>
          </a:p>
        </p:txBody>
      </p:sp>
      <p:sp>
        <p:nvSpPr>
          <p:cNvPr id="9" name="Étape 2 cercle"/>
          <p:cNvSpPr/>
          <p:nvPr/>
        </p:nvSpPr>
        <p:spPr>
          <a:xfrm>
            <a:off x="3483864" y="2011680"/>
            <a:ext cx="731520" cy="731520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0" name="Étape 2 texte"/>
          <p:cNvSpPr txBox="1"/>
          <p:nvPr/>
        </p:nvSpPr>
        <p:spPr>
          <a:xfrm>
            <a:off x="3483864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Liaison 2"/>
          <p:cNvSpPr/>
          <p:nvPr/>
        </p:nvSpPr>
        <p:spPr>
          <a:xfrm>
            <a:off x="4306824" y="2377440"/>
            <a:ext cx="1371600" cy="0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12" name="Étape titre 2"/>
          <p:cNvSpPr txBox="1"/>
          <p:nvPr/>
        </p:nvSpPr>
        <p:spPr>
          <a:xfrm>
            <a:off x="2798064" y="29718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Produits CJ</a:t>
            </a:r>
            <a:endParaRPr lang="en-US" sz="1700" dirty="0"/>
          </a:p>
        </p:txBody>
      </p:sp>
      <p:sp>
        <p:nvSpPr>
          <p:cNvPr id="13" name="Étape texte 2"/>
          <p:cNvSpPr txBox="1"/>
          <p:nvPr/>
        </p:nvSpPr>
        <p:spPr>
          <a:xfrm>
            <a:off x="2798064" y="347472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Bracelet et puces Marguerite, puis le reste du catalogue</a:t>
            </a:r>
            <a:endParaRPr lang="en-US" sz="1400" dirty="0"/>
          </a:p>
        </p:txBody>
      </p:sp>
      <p:sp>
        <p:nvSpPr>
          <p:cNvPr id="14" name="Étape 3 cercle"/>
          <p:cNvSpPr/>
          <p:nvPr/>
        </p:nvSpPr>
        <p:spPr>
          <a:xfrm>
            <a:off x="5733288" y="2011680"/>
            <a:ext cx="731520" cy="731520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5" name="Étape 3 texte"/>
          <p:cNvSpPr txBox="1"/>
          <p:nvPr/>
        </p:nvSpPr>
        <p:spPr>
          <a:xfrm>
            <a:off x="5733288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Liaison 3"/>
          <p:cNvSpPr/>
          <p:nvPr/>
        </p:nvSpPr>
        <p:spPr>
          <a:xfrm>
            <a:off x="6556248" y="2377440"/>
            <a:ext cx="1371600" cy="0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17" name="Étape titre 3"/>
          <p:cNvSpPr txBox="1"/>
          <p:nvPr/>
        </p:nvSpPr>
        <p:spPr>
          <a:xfrm>
            <a:off x="5047488" y="29718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Échantillons</a:t>
            </a:r>
            <a:endParaRPr lang="en-US" sz="1700" dirty="0"/>
          </a:p>
        </p:txBody>
      </p:sp>
      <p:sp>
        <p:nvSpPr>
          <p:cNvPr id="18" name="Étape texte 3"/>
          <p:cNvSpPr txBox="1"/>
          <p:nvPr/>
        </p:nvSpPr>
        <p:spPr>
          <a:xfrm>
            <a:off x="5047488" y="347472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Collier, anneau sans perçage, créoles : test de 7 jours</a:t>
            </a:r>
            <a:endParaRPr lang="en-US" sz="1400" dirty="0"/>
          </a:p>
        </p:txBody>
      </p:sp>
      <p:sp>
        <p:nvSpPr>
          <p:cNvPr id="19" name="Étape 4 cercle"/>
          <p:cNvSpPr/>
          <p:nvPr/>
        </p:nvSpPr>
        <p:spPr>
          <a:xfrm>
            <a:off x="7982712" y="2011680"/>
            <a:ext cx="731520" cy="731520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20" name="Étape 4 texte"/>
          <p:cNvSpPr txBox="1"/>
          <p:nvPr/>
        </p:nvSpPr>
        <p:spPr>
          <a:xfrm>
            <a:off x="7982712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Liaison 4"/>
          <p:cNvSpPr/>
          <p:nvPr/>
        </p:nvSpPr>
        <p:spPr>
          <a:xfrm>
            <a:off x="8805672" y="2377440"/>
            <a:ext cx="1371600" cy="0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22" name="Étape titre 4"/>
          <p:cNvSpPr txBox="1"/>
          <p:nvPr/>
        </p:nvSpPr>
        <p:spPr>
          <a:xfrm>
            <a:off x="7296912" y="29718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Boutique Shopify</a:t>
            </a:r>
            <a:endParaRPr lang="en-US" sz="1700" dirty="0"/>
          </a:p>
        </p:txBody>
      </p:sp>
      <p:sp>
        <p:nvSpPr>
          <p:cNvPr id="23" name="Étape texte 4"/>
          <p:cNvSpPr txBox="1"/>
          <p:nvPr/>
        </p:nvSpPr>
        <p:spPr>
          <a:xfrm>
            <a:off x="7296912" y="347472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Thème Dawn, applications, pages légales</a:t>
            </a:r>
            <a:endParaRPr lang="en-US" sz="1400" dirty="0"/>
          </a:p>
        </p:txBody>
      </p:sp>
      <p:sp>
        <p:nvSpPr>
          <p:cNvPr id="24" name="Étape 5 cercle"/>
          <p:cNvSpPr/>
          <p:nvPr/>
        </p:nvSpPr>
        <p:spPr>
          <a:xfrm>
            <a:off x="10232136" y="2011680"/>
            <a:ext cx="731520" cy="731520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25" name="Étape 5 texte"/>
          <p:cNvSpPr txBox="1"/>
          <p:nvPr/>
        </p:nvSpPr>
        <p:spPr>
          <a:xfrm>
            <a:off x="10232136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Étape titre 5"/>
          <p:cNvSpPr txBox="1"/>
          <p:nvPr/>
        </p:nvSpPr>
        <p:spPr>
          <a:xfrm>
            <a:off x="9546336" y="29718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Premières pubs</a:t>
            </a:r>
            <a:endParaRPr lang="en-US" sz="1700" dirty="0"/>
          </a:p>
        </p:txBody>
      </p:sp>
      <p:sp>
        <p:nvSpPr>
          <p:cNvPr id="27" name="Étape texte 5"/>
          <p:cNvSpPr txBox="1"/>
          <p:nvPr/>
        </p:nvSpPr>
        <p:spPr>
          <a:xfrm>
            <a:off x="9546336" y="347472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3 vidéos, environ 150 €, décision sur les chiffres</a:t>
            </a:r>
            <a:endParaRPr lang="en-US" sz="1400" dirty="0"/>
          </a:p>
        </p:txBody>
      </p:sp>
      <p:sp>
        <p:nvSpPr>
          <p:cNvPr id="28" name="Site prêt"/>
          <p:cNvSpPr txBox="1"/>
          <p:nvPr/>
        </p:nvSpPr>
        <p:spPr>
          <a:xfrm>
            <a:off x="548640" y="53035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Le site de démonstration est prêt : accueil, collections, fiches, coffret, panier et pages d'aide.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ctr" indent="0" marL="0">
              <a:buNone/>
            </a:pPr>
            <a:r>
              <a:rPr lang="en-US" sz="1400" b="1" spc="400" kern="0" dirty="0">
                <a:solidFill>
                  <a:schemeClr val="accent1"/>
                </a:solidFill>
              </a:rPr>
              <a:t>EN RÉSUMÉ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965960"/>
            <a:ext cx="11064240" cy="21031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ctr"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éclat qui dure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463040" y="4297680"/>
            <a:ext cx="9235440" cy="11887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Une niche précise, un problème réel, un produit léger et rentable.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Prochaine étape : les échantillons et le premier test.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AURE">
  <a:themeElements>
    <a:clrScheme name="VAURE">
      <a:dk1>
        <a:srgbClr val="151412"/>
      </a:dk1>
      <a:lt1>
        <a:srgbClr val="FFFFFF"/>
      </a:lt1>
      <a:dk2>
        <a:srgbClr val="5A554E"/>
      </a:dk2>
      <a:lt2>
        <a:srgbClr val="F6F2EB"/>
      </a:lt2>
      <a:accent1>
        <a:srgbClr val="B08D57"/>
      </a:accent1>
      <a:accent2>
        <a:srgbClr val="4E6B4F"/>
      </a:accent2>
      <a:accent3>
        <a:srgbClr val="9A4A3C"/>
      </a:accent3>
      <a:accent4>
        <a:srgbClr val="D9C7A3"/>
      </a:accent4>
      <a:accent5>
        <a:srgbClr val="E6DFD3"/>
      </a:accent5>
      <a:accent6>
        <a:srgbClr val="2E2B27"/>
      </a:accent6>
      <a:hlink>
        <a:srgbClr val="B08D57"/>
      </a:hlink>
      <a:folHlink>
        <a:srgbClr val="5A554E"/>
      </a:folHlink>
    </a:clrScheme>
    <a:fontScheme name="VAUR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VAURE — présentation du projet</dc:title>
  <dc:subject>PptxGenJS Presentation</dc:subject>
  <dc:creator>VAURE</dc:creator>
  <cp:lastModifiedBy>VAURE</cp:lastModifiedBy>
  <cp:revision>1</cp:revision>
  <dcterms:created xsi:type="dcterms:W3CDTF">2026-10-25T08:31:35Z</dcterms:created>
  <dcterms:modified xsi:type="dcterms:W3CDTF">2026-10-25T08:31:35Z</dcterms:modified>
</cp:coreProperties>
</file>