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b21dd6f-6289-d8a3-aff7-868f80f9c299}">
          <p14:sldIdLst>
            <p14:sldId id="256"/>
          </p14:sldIdLst>
        </p14:section>
        <p14:section name="La niche" id="{1ba20956-a4ba-e3b4-2af9-e04a1806c760}">
          <p14:sldIdLst>
            <p14:sldId id="257"/>
            <p14:sldId id="258"/>
            <p14:sldId id="259"/>
          </p14:sldIdLst>
        </p14:section>
        <p14:section name="Pourquoi" id="{be337b8f-c270-0db9-4b9d-78840e400a5d}">
          <p14:sldIdLst>
            <p14:sldId id="260"/>
            <p14:sldId id="261"/>
          </p14:sldIdLst>
        </p14:section>
        <p14:section name="L'offre" id="{a065c5c9-795e-59b5-5e4a-77a3122cac83}">
          <p14:sldIdLst>
            <p14:sldId id="262"/>
            <p14:sldId id="263"/>
            <p14:sldId id="264"/>
          </p14:sldIdLst>
        </p14:section>
        <p14:section name="Vendre" id="{7ebceac3-3976-0559-bea1-fbcd640f874e}">
          <p14:sldIdLst>
            <p14:sldId id="265"/>
            <p14:sldId id="266"/>
            <p14:sldId id="267"/>
          </p14:sldIdLst>
        </p14:section>
        <p14:section name="Clôture" id="{90d88650-7db7-d286-446b-c51ae65314c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Ce qui reste par commande, avant la pub (sans TVA)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Reste avant la pub (€)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0.00&quot; €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Collier seul (24,90 €)</c:v>
                  </c:pt>
                  <c:pt idx="1">
                    <c:v>Collier + bracelet (38,80 €)</c:v>
                  </c:pt>
                  <c:pt idx="2">
                    <c:v>Parure en écrin (44,90 €)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17.51</c:v>
                </c:pt>
                <c:pt idx="1">
                  <c:v>25.6</c:v>
                </c:pt>
                <c:pt idx="2">
                  <c:v>27.5</c:v>
                </c:pt>
              </c:numCache>
            </c:numRef>
          </c:val>
        </c:ser>
        <c:dLbls>
          <c:numFmt formatCode="0.00&quot; €&quot;" sourceLinked="0"/>
          <c:txPr>
            <a:bodyPr/>
            <a:lstStyle/>
            <a:p>
              <a:pPr>
                <a:defRPr b="0" i="0" strike="noStrike" sz="14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VAURE. Le devoir demandé : dire la niche. La réponse est sur la diapositive suivante, puis j'explique pourquoi ce choix et comment on va vendre.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niche se dit du plus large au plus précis : marché, catégorie, niche. Ce qui rend la niche précise, c'est la matière (316L et titane) et le problème réglé (le bijou qui noircit, verdit ou irrite).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cliente type et ses quatre problèmes. Chaque produit VAURE répond à l'un d'eux.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promesse en une phrase, selon l'exercice de la formation. Elle est en haut du site : « Des bijoux qui ne noircissent pas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formation retient un produit s'il remplit au moins 3 critères sur 4. Le collier Marguerite les remplit tous les quatre.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des rideaux viennent des captures CJ : 51,92 € et 60,91 € pour deux rideaux livrés en France.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 : 24,90 € moins 6,64 € de coût livré et environ 0,75 € de frais de paiement, soit 17,51 €. Avec la TVA, il reste 13,36 €.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catalogue de départ reste petit : on ajoutera ce qui se vend.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de l'ensemble et de la parure sont des estimations : le coût du bracelet et des puces est à confirmer sur CJ. Objectif : un panier moyen d'au moins 35 €.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confiance compte autant que le produit : pas de vocabulaire de site discount, et une urgence qui correspond à une vraie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total du premier test : environ 150 €, plus environ 20 € d'échantillons.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site de démonstration est dans le dossier vaure/site du dépôt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: niche, problème, produit héros, prochaine étape.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11064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463040" y="4297680"/>
            <a:ext cx="9235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 A U R E   ·   Projet de boutique, méthode Scutify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PROJET DE BOUTIQUE  ·  MÉTHODE SCUTIFY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11064240" cy="2103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6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A U R 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463040" y="4297680"/>
            <a:ext cx="923544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Des bijoux dorés qui ne noircissent pas.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Acier inoxydable 316L et titane, pour les femmes qui veulent briller tous les jours.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DEVOIR  ·  DIRE LA NICHE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niche en une phrase</a:t>
            </a:r>
            <a:endParaRPr lang="en-US" sz="3600" dirty="0"/>
          </a:p>
        </p:txBody>
      </p:sp>
      <p:sp>
        <p:nvSpPr>
          <p:cNvPr id="4" name="Encadré niche"/>
          <p:cNvSpPr/>
          <p:nvPr/>
        </p:nvSpPr>
        <p:spPr>
          <a:xfrm>
            <a:off x="548640" y="1691640"/>
            <a:ext cx="11064240" cy="16002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hrase niche"/>
          <p:cNvSpPr txBox="1"/>
          <p:nvPr/>
        </p:nvSpPr>
        <p:spPr>
          <a:xfrm>
            <a:off x="914400" y="178308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bijoux dorés en acier inoxydable et en titane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ne noircissent pas et conviennent aux peaux sensibles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pour les femmes de 18 à 45 ans qui achètent sur un coup de cœur ou pour offrir.</a:t>
            </a:r>
            <a:endParaRPr lang="en-US" sz="2200" dirty="0"/>
          </a:p>
        </p:txBody>
      </p:sp>
      <p:sp>
        <p:nvSpPr>
          <p:cNvPr id="6" name="Niveau 1 cercle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Niveau 1 texte"/>
          <p:cNvSpPr txBox="1"/>
          <p:nvPr/>
        </p:nvSpPr>
        <p:spPr>
          <a:xfrm>
            <a:off x="54864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Niveau titre 1"/>
          <p:cNvSpPr txBox="1"/>
          <p:nvPr/>
        </p:nvSpPr>
        <p:spPr>
          <a:xfrm>
            <a:off x="1417320" y="3749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</a:t>
            </a:r>
            <a:endParaRPr lang="en-US" sz="2000" dirty="0"/>
          </a:p>
        </p:txBody>
      </p:sp>
      <p:sp>
        <p:nvSpPr>
          <p:cNvPr id="9" name="Niveau texte 1"/>
          <p:cNvSpPr txBox="1"/>
          <p:nvPr/>
        </p:nvSpPr>
        <p:spPr>
          <a:xfrm>
            <a:off x="1417320" y="4160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 accessoires de mode féminins</a:t>
            </a:r>
            <a:endParaRPr lang="en-US" sz="1500" dirty="0"/>
          </a:p>
        </p:txBody>
      </p:sp>
      <p:sp>
        <p:nvSpPr>
          <p:cNvPr id="10" name="Niveau 2 cercle"/>
          <p:cNvSpPr/>
          <p:nvPr/>
        </p:nvSpPr>
        <p:spPr>
          <a:xfrm>
            <a:off x="4297680" y="3794760"/>
            <a:ext cx="685800" cy="6858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Niveau 2 texte"/>
          <p:cNvSpPr txBox="1"/>
          <p:nvPr/>
        </p:nvSpPr>
        <p:spPr>
          <a:xfrm>
            <a:off x="429768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Niveau titre 2"/>
          <p:cNvSpPr txBox="1"/>
          <p:nvPr/>
        </p:nvSpPr>
        <p:spPr>
          <a:xfrm>
            <a:off x="5166360" y="3749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Catégorie</a:t>
            </a:r>
            <a:endParaRPr lang="en-US" sz="2000" dirty="0"/>
          </a:p>
        </p:txBody>
      </p:sp>
      <p:sp>
        <p:nvSpPr>
          <p:cNvPr id="13" name="Niveau texte 2"/>
          <p:cNvSpPr txBox="1"/>
          <p:nvPr/>
        </p:nvSpPr>
        <p:spPr>
          <a:xfrm>
            <a:off x="5166360" y="4160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 bijoux fantaisie dorés</a:t>
            </a:r>
            <a:endParaRPr lang="en-US" sz="1500" dirty="0"/>
          </a:p>
        </p:txBody>
      </p:sp>
      <p:sp>
        <p:nvSpPr>
          <p:cNvPr id="14" name="Niveau 3 cercle"/>
          <p:cNvSpPr/>
          <p:nvPr/>
        </p:nvSpPr>
        <p:spPr>
          <a:xfrm>
            <a:off x="8046720" y="3794760"/>
            <a:ext cx="685800" cy="6858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Niveau 3 texte"/>
          <p:cNvSpPr txBox="1"/>
          <p:nvPr/>
        </p:nvSpPr>
        <p:spPr>
          <a:xfrm>
            <a:off x="804672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Niveau titre 3"/>
          <p:cNvSpPr txBox="1"/>
          <p:nvPr/>
        </p:nvSpPr>
        <p:spPr>
          <a:xfrm>
            <a:off x="8915400" y="3749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</a:t>
            </a:r>
            <a:endParaRPr lang="en-US" sz="2000" dirty="0"/>
          </a:p>
        </p:txBody>
      </p:sp>
      <p:sp>
        <p:nvSpPr>
          <p:cNvPr id="17" name="Niveau texte 3"/>
          <p:cNvSpPr txBox="1"/>
          <p:nvPr/>
        </p:nvSpPr>
        <p:spPr>
          <a:xfrm>
            <a:off x="8915400" y="4160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Bijoux en acier 316L et titane qui ne noircissent pas, de 12,90 à 24,90 €</a:t>
            </a:r>
            <a:endParaRPr lang="en-US" sz="1500" dirty="0"/>
          </a:p>
        </p:txBody>
      </p:sp>
      <p:sp>
        <p:nvSpPr>
          <p:cNvPr id="18" name="Conclusion niche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Du plus large au plus précis : on ne parle pas à toutes les femmes, mais à celles dont les bijoux ont déjà noirci, verdi ou irrité.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 CLIENTE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qui je vends</a:t>
            </a:r>
            <a:endParaRPr lang="en-US" sz="3600" dirty="0"/>
          </a:p>
        </p:txBody>
      </p:sp>
      <p:sp>
        <p:nvSpPr>
          <p:cNvPr id="4" name="Carte persona"/>
          <p:cNvSpPr/>
          <p:nvPr/>
        </p:nvSpPr>
        <p:spPr>
          <a:xfrm>
            <a:off x="548640" y="1737360"/>
            <a:ext cx="4754880" cy="4389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ersona nom"/>
          <p:cNvSpPr txBox="1"/>
          <p:nvPr/>
        </p:nvSpPr>
        <p:spPr>
          <a:xfrm>
            <a:off x="86868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Léa, 28 ans</a:t>
            </a:r>
            <a:endParaRPr lang="en-US" sz="2600" dirty="0"/>
          </a:p>
        </p:txBody>
      </p:sp>
      <p:sp>
        <p:nvSpPr>
          <p:cNvPr id="6" name="Persona détails"/>
          <p:cNvSpPr txBox="1"/>
          <p:nvPr/>
        </p:nvSpPr>
        <p:spPr>
          <a:xfrm>
            <a:off x="868680" y="26517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Active, en ville, sur Instagram et TikTok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Aime les bijoux fins et dorés, portés tous les jours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Budget « coup de cœur » : moins de 30 €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Achète aussi pour offrir : amie, sœur, maman</a:t>
            </a:r>
            <a:endParaRPr lang="en-US" sz="1600" dirty="0"/>
          </a:p>
        </p:txBody>
      </p:sp>
      <p:sp>
        <p:nvSpPr>
          <p:cNvPr id="7" name="Problème 1 cercle"/>
          <p:cNvSpPr/>
          <p:nvPr/>
        </p:nvSpPr>
        <p:spPr>
          <a:xfrm>
            <a:off x="5806440" y="178308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Problème 1 texte"/>
          <p:cNvSpPr txBox="1"/>
          <p:nvPr/>
        </p:nvSpPr>
        <p:spPr>
          <a:xfrm>
            <a:off x="58064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Problème titre 1"/>
          <p:cNvSpPr txBox="1"/>
          <p:nvPr/>
        </p:nvSpPr>
        <p:spPr>
          <a:xfrm>
            <a:off x="662940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Ses bijoux noircissent</a:t>
            </a:r>
            <a:endParaRPr lang="en-US" sz="1800" dirty="0"/>
          </a:p>
        </p:txBody>
      </p:sp>
      <p:sp>
        <p:nvSpPr>
          <p:cNvPr id="10" name="Problème texte 1"/>
          <p:cNvSpPr txBox="1"/>
          <p:nvPr/>
        </p:nvSpPr>
        <p:spPr>
          <a:xfrm>
            <a:off x="662940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collier à 5 € perd sa couleur en deux semaines.</a:t>
            </a:r>
            <a:endParaRPr lang="en-US" sz="1500" dirty="0"/>
          </a:p>
        </p:txBody>
      </p:sp>
      <p:sp>
        <p:nvSpPr>
          <p:cNvPr id="11" name="Problème 2 cercle"/>
          <p:cNvSpPr/>
          <p:nvPr/>
        </p:nvSpPr>
        <p:spPr>
          <a:xfrm>
            <a:off x="5806440" y="288036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Problème 2 texte"/>
          <p:cNvSpPr txBox="1"/>
          <p:nvPr/>
        </p:nvSpPr>
        <p:spPr>
          <a:xfrm>
            <a:off x="580644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Problème titre 2"/>
          <p:cNvSpPr txBox="1"/>
          <p:nvPr/>
        </p:nvSpPr>
        <p:spPr>
          <a:xfrm>
            <a:off x="6629400" y="2834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Ils laissent une trace verte</a:t>
            </a:r>
            <a:endParaRPr lang="en-US" sz="1800" dirty="0"/>
          </a:p>
        </p:txBody>
      </p:sp>
      <p:sp>
        <p:nvSpPr>
          <p:cNvPr id="14" name="Problème texte 2"/>
          <p:cNvSpPr txBox="1"/>
          <p:nvPr/>
        </p:nvSpPr>
        <p:spPr>
          <a:xfrm>
            <a:off x="6629400" y="3246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Ou ils irritent : oreilles, cou, nez.</a:t>
            </a:r>
            <a:endParaRPr lang="en-US" sz="1500" dirty="0"/>
          </a:p>
        </p:txBody>
      </p:sp>
      <p:sp>
        <p:nvSpPr>
          <p:cNvPr id="15" name="Problème 3 cercle"/>
          <p:cNvSpPr/>
          <p:nvPr/>
        </p:nvSpPr>
        <p:spPr>
          <a:xfrm>
            <a:off x="5806440" y="397764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Problème 3 texte"/>
          <p:cNvSpPr txBox="1"/>
          <p:nvPr/>
        </p:nvSpPr>
        <p:spPr>
          <a:xfrm>
            <a:off x="58064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Problème titre 3"/>
          <p:cNvSpPr txBox="1"/>
          <p:nvPr/>
        </p:nvSpPr>
        <p:spPr>
          <a:xfrm>
            <a:off x="662940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Elle n'ose pas se faire percer</a:t>
            </a:r>
            <a:endParaRPr lang="en-US" sz="1800" dirty="0"/>
          </a:p>
        </p:txBody>
      </p:sp>
      <p:sp>
        <p:nvSpPr>
          <p:cNvPr id="18" name="Problème texte 3"/>
          <p:cNvSpPr txBox="1"/>
          <p:nvPr/>
        </p:nvSpPr>
        <p:spPr>
          <a:xfrm>
            <a:off x="6629400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Elle aime le style piercing, pas le trou.</a:t>
            </a:r>
            <a:endParaRPr lang="en-US" sz="1500" dirty="0"/>
          </a:p>
        </p:txBody>
      </p:sp>
      <p:sp>
        <p:nvSpPr>
          <p:cNvPr id="19" name="Problème 4 cercle"/>
          <p:cNvSpPr/>
          <p:nvPr/>
        </p:nvSpPr>
        <p:spPr>
          <a:xfrm>
            <a:off x="5806440" y="507492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Problème 4 texte"/>
          <p:cNvSpPr txBox="1"/>
          <p:nvPr/>
        </p:nvSpPr>
        <p:spPr>
          <a:xfrm>
            <a:off x="580644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Problème titre 4"/>
          <p:cNvSpPr txBox="1"/>
          <p:nvPr/>
        </p:nvSpPr>
        <p:spPr>
          <a:xfrm>
            <a:off x="6629400" y="5029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Elle cherche un cadeau</a:t>
            </a:r>
            <a:endParaRPr lang="en-US" sz="1800" dirty="0"/>
          </a:p>
        </p:txBody>
      </p:sp>
      <p:sp>
        <p:nvSpPr>
          <p:cNvPr id="22" name="Problème texte 4"/>
          <p:cNvSpPr txBox="1"/>
          <p:nvPr/>
        </p:nvSpPr>
        <p:spPr>
          <a:xfrm>
            <a:off x="6629400" y="5440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Joli, sûr, livré à temps pour la 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LA PROMESSE PRODUIT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11064240" cy="2103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Mon bijou aide ma cliente à briller tous les jours, sans qu'il noircisse ni l'irrite. »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463040" y="4297680"/>
            <a:ext cx="923544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Exercice Scutify : « Mon produit aide mon client à ___ sans ___ ».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POURQUOI CETTE NICHE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critères Scutify sont remplis</a:t>
            </a:r>
            <a:endParaRPr lang="en-US" sz="3600" dirty="0"/>
          </a:p>
        </p:txBody>
      </p:sp>
      <p:sp>
        <p:nvSpPr>
          <p:cNvPr id="4" name="Critère 1"/>
          <p:cNvSpPr/>
          <p:nvPr/>
        </p:nvSpPr>
        <p:spPr>
          <a:xfrm>
            <a:off x="548640" y="1737360"/>
            <a:ext cx="544068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ritère coche 1 cercle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Critère coche 1 texte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Critère titre 1"/>
          <p:cNvSpPr txBox="1"/>
          <p:nvPr/>
        </p:nvSpPr>
        <p:spPr>
          <a:xfrm>
            <a:off x="155448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Effet wow</a:t>
            </a:r>
            <a:endParaRPr lang="en-US" sz="2000" dirty="0"/>
          </a:p>
        </p:txBody>
      </p:sp>
      <p:sp>
        <p:nvSpPr>
          <p:cNvPr id="8" name="Critère texte 1"/>
          <p:cNvSpPr txBox="1"/>
          <p:nvPr/>
        </p:nvSpPr>
        <p:spPr>
          <a:xfrm>
            <a:off x="1554480" y="25146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Gros plan doré en vidéo, test sous la douche, bijou sans perçage posé en un geste</a:t>
            </a:r>
            <a:endParaRPr lang="en-US" sz="1500" dirty="0"/>
          </a:p>
        </p:txBody>
      </p:sp>
      <p:sp>
        <p:nvSpPr>
          <p:cNvPr id="9" name="Critère 2"/>
          <p:cNvSpPr/>
          <p:nvPr/>
        </p:nvSpPr>
        <p:spPr>
          <a:xfrm>
            <a:off x="6172200" y="1737360"/>
            <a:ext cx="544068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ritère coche 2 cercle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Critère coche 2 texte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Critère titre 2"/>
          <p:cNvSpPr txBox="1"/>
          <p:nvPr/>
        </p:nvSpPr>
        <p:spPr>
          <a:xfrm>
            <a:off x="71780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Problème-solution</a:t>
            </a:r>
            <a:endParaRPr lang="en-US" sz="2000" dirty="0"/>
          </a:p>
        </p:txBody>
      </p:sp>
      <p:sp>
        <p:nvSpPr>
          <p:cNvPr id="13" name="Critère texte 2"/>
          <p:cNvSpPr txBox="1"/>
          <p:nvPr/>
        </p:nvSpPr>
        <p:spPr>
          <a:xfrm>
            <a:off x="7178040" y="25146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bijou qui noircit, verdit ou irrite est une gêne connue de presque toutes les femmes</a:t>
            </a:r>
            <a:endParaRPr lang="en-US" sz="1500" dirty="0"/>
          </a:p>
        </p:txBody>
      </p:sp>
      <p:sp>
        <p:nvSpPr>
          <p:cNvPr id="14" name="Critère 3"/>
          <p:cNvSpPr/>
          <p:nvPr/>
        </p:nvSpPr>
        <p:spPr>
          <a:xfrm>
            <a:off x="548640" y="3703320"/>
            <a:ext cx="544068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ritère coche 3 cercle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Critère coche 3 texte"/>
          <p:cNvSpPr txBox="1"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Critère titre 3"/>
          <p:cNvSpPr txBox="1"/>
          <p:nvPr/>
        </p:nvSpPr>
        <p:spPr>
          <a:xfrm>
            <a:off x="155448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</a:t>
            </a:r>
            <a:endParaRPr lang="en-US" sz="2000" dirty="0"/>
          </a:p>
        </p:txBody>
      </p:sp>
      <p:sp>
        <p:nvSpPr>
          <p:cNvPr id="18" name="Critère texte 3"/>
          <p:cNvSpPr txBox="1"/>
          <p:nvPr/>
        </p:nvSpPr>
        <p:spPr>
          <a:xfrm>
            <a:off x="1554480" y="4480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Collier Marguerite : 6,64 € livré, vendu 24,90 €, soit 17,51 € avant la pub</a:t>
            </a:r>
            <a:endParaRPr lang="en-US" sz="1500" dirty="0"/>
          </a:p>
        </p:txBody>
      </p:sp>
      <p:sp>
        <p:nvSpPr>
          <p:cNvPr id="19" name="Critère 4"/>
          <p:cNvSpPr/>
          <p:nvPr/>
        </p:nvSpPr>
        <p:spPr>
          <a:xfrm>
            <a:off x="6172200" y="3703320"/>
            <a:ext cx="544068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ritère coche 4 cercle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Critère coche 4 texte"/>
          <p:cNvSpPr txBox="1"/>
          <p:nvPr/>
        </p:nvSpPr>
        <p:spPr>
          <a:xfrm>
            <a:off x="6446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Critère titre 4"/>
          <p:cNvSpPr txBox="1"/>
          <p:nvPr/>
        </p:nvSpPr>
        <p:spPr>
          <a:xfrm>
            <a:off x="717804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2000" dirty="0"/>
          </a:p>
        </p:txBody>
      </p:sp>
      <p:sp>
        <p:nvSpPr>
          <p:cNvPr id="23" name="Critère texte 4"/>
          <p:cNvSpPr txBox="1"/>
          <p:nvPr/>
        </p:nvSpPr>
        <p:spPr>
          <a:xfrm>
            <a:off x="7178040" y="4480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Achat coup de cœur sous 30 €, aucune taille, cadeau toute l'année</a:t>
            </a:r>
            <a:endParaRPr lang="en-US" sz="1500" dirty="0"/>
          </a:p>
        </p:txBody>
      </p:sp>
      <p:sp>
        <p:nvSpPr>
          <p:cNvPr id="24" name="Verdict critères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4 critères sur 4. La formation en demande au moins 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COMMENT J'Y SUIS ARRIVÉ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idées testées, une seule retenue</a:t>
            </a:r>
            <a:endParaRPr lang="en-US" sz="3600" dirty="0"/>
          </a:p>
        </p:txBody>
      </p:sp>
      <p:graphicFrame>
        <p:nvGraphicFramePr>
          <p:cNvPr id="7" name="Tableau idé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92240"/>
                <a:gridCol w="16459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Idée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Problème rencontré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Déco maison, 62 produits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Trop large : on dirait un bazar, le client ne sait pas ce qu'on vend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Écartée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Rideaux thermiques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Trop lourds : 52 à 61 € la paire livrée depuis la Chine, pour un prix de marché de 80 à 100 €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Écartée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Pyjamas de Noël famille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Beaucoup de tailles, donc des retours, et seulement 6 semaines de saison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Écartée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Bijoux 316L et titane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Quelques grammes, aucune taille, moins de 30 €, toute l'année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Retenue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Leçon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Leçon : un produit lourd ou cher ne s'achète pas sur un coup de cœur. Le bijou, si.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LE PRODUIT HÉROS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collier Marguerite</a:t>
            </a:r>
            <a:endParaRPr lang="en-US" sz="3600" dirty="0"/>
          </a:p>
        </p:txBody>
      </p:sp>
      <p:sp>
        <p:nvSpPr>
          <p:cNvPr id="4" name="Chiffre 1"/>
          <p:cNvSpPr/>
          <p:nvPr/>
        </p:nvSpPr>
        <p:spPr>
          <a:xfrm>
            <a:off x="548640" y="1783080"/>
            <a:ext cx="352044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iffre valeur 1"/>
          <p:cNvSpPr txBox="1"/>
          <p:nvPr/>
        </p:nvSpPr>
        <p:spPr>
          <a:xfrm>
            <a:off x="731520" y="1965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6,64 €</a:t>
            </a:r>
            <a:endParaRPr lang="en-US" sz="4800" dirty="0"/>
          </a:p>
        </p:txBody>
      </p:sp>
      <p:sp>
        <p:nvSpPr>
          <p:cNvPr id="6" name="Chiffre libellé 1"/>
          <p:cNvSpPr txBox="1"/>
          <p:nvPr/>
        </p:nvSpPr>
        <p:spPr>
          <a:xfrm>
            <a:off x="73152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coût livré en France (CJ)</a:t>
            </a:r>
            <a:endParaRPr lang="en-US" sz="1500" dirty="0"/>
          </a:p>
        </p:txBody>
      </p:sp>
      <p:sp>
        <p:nvSpPr>
          <p:cNvPr id="7" name="Chiffre 2"/>
          <p:cNvSpPr/>
          <p:nvPr/>
        </p:nvSpPr>
        <p:spPr>
          <a:xfrm>
            <a:off x="4297680" y="1783080"/>
            <a:ext cx="352044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ffre valeur 2"/>
          <p:cNvSpPr txBox="1"/>
          <p:nvPr/>
        </p:nvSpPr>
        <p:spPr>
          <a:xfrm>
            <a:off x="4480560" y="1965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24,90 €</a:t>
            </a:r>
            <a:endParaRPr lang="en-US" sz="4800" dirty="0"/>
          </a:p>
        </p:txBody>
      </p:sp>
      <p:sp>
        <p:nvSpPr>
          <p:cNvPr id="9" name="Chiffre libellé 2"/>
          <p:cNvSpPr txBox="1"/>
          <p:nvPr/>
        </p:nvSpPr>
        <p:spPr>
          <a:xfrm>
            <a:off x="448056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prix de vente</a:t>
            </a:r>
            <a:endParaRPr lang="en-US" sz="1500" dirty="0"/>
          </a:p>
        </p:txBody>
      </p:sp>
      <p:sp>
        <p:nvSpPr>
          <p:cNvPr id="10" name="Chiffre 3"/>
          <p:cNvSpPr/>
          <p:nvPr/>
        </p:nvSpPr>
        <p:spPr>
          <a:xfrm>
            <a:off x="8046720" y="1783080"/>
            <a:ext cx="3520440" cy="2103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hiffre valeur 3"/>
          <p:cNvSpPr txBox="1"/>
          <p:nvPr/>
        </p:nvSpPr>
        <p:spPr>
          <a:xfrm>
            <a:off x="8229600" y="1965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17,51 €</a:t>
            </a:r>
            <a:endParaRPr lang="en-US" sz="4800" dirty="0"/>
          </a:p>
        </p:txBody>
      </p:sp>
      <p:sp>
        <p:nvSpPr>
          <p:cNvPr id="12" name="Chiffre libellé 3"/>
          <p:cNvSpPr txBox="1"/>
          <p:nvPr/>
        </p:nvSpPr>
        <p:spPr>
          <a:xfrm>
            <a:off x="822960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reste avant la pub, sans TVA</a:t>
            </a:r>
            <a:endParaRPr lang="en-US" sz="1500" dirty="0"/>
          </a:p>
        </p:txBody>
      </p:sp>
      <p:sp>
        <p:nvSpPr>
          <p:cNvPr id="13" name="Détails héros"/>
          <p:cNvSpPr txBox="1"/>
          <p:nvPr/>
        </p:nvSpPr>
        <p:spPr>
          <a:xfrm>
            <a:off x="548640" y="420624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Acier titane plaqué or, chaîne fine semée de marguerites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Référence CJ : CJLX171494501AZ, ligne « Jewel Shipping » avec suivi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Prix fixé à environ 3,7 fois le coût livré (minimum Scutify : 3 fois)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À vérifier : 7 jours sous la douche avec l'échantillon avant d'écrire « résiste à l'eau 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 GAMME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produits, un seul style</a:t>
            </a:r>
            <a:endParaRPr lang="en-US" sz="3600" dirty="0"/>
          </a:p>
        </p:txBody>
      </p:sp>
      <p:sp>
        <p:nvSpPr>
          <p:cNvPr id="4" name="Gamme Bijoux cercle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Gamme Bijoux texte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Gamme titre Bijoux"/>
          <p:cNvSpPr txBox="1"/>
          <p:nvPr/>
        </p:nvSpPr>
        <p:spPr>
          <a:xfrm>
            <a:off x="1417320" y="1691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Bijoux</a:t>
            </a:r>
            <a:endParaRPr lang="en-US" sz="1900" dirty="0"/>
          </a:p>
        </p:txBody>
      </p:sp>
      <p:sp>
        <p:nvSpPr>
          <p:cNvPr id="7" name="Gamme détail Bijoux"/>
          <p:cNvSpPr txBox="1"/>
          <p:nvPr/>
        </p:nvSpPr>
        <p:spPr>
          <a:xfrm>
            <a:off x="4480560" y="1691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Colliers, bracelets, boucles d'oreilles</a:t>
            </a:r>
            <a:endParaRPr lang="en-US" sz="1500" dirty="0"/>
          </a:p>
        </p:txBody>
      </p:sp>
      <p:sp>
        <p:nvSpPr>
          <p:cNvPr id="8" name="Gamme rôle Bijoux"/>
          <p:cNvSpPr txBox="1"/>
          <p:nvPr/>
        </p:nvSpPr>
        <p:spPr>
          <a:xfrm>
            <a:off x="868680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Produits héros, en pub</a:t>
            </a:r>
            <a:endParaRPr lang="en-US" sz="1500" dirty="0"/>
          </a:p>
        </p:txBody>
      </p:sp>
      <p:sp>
        <p:nvSpPr>
          <p:cNvPr id="9" name="Gamme Piercings cercle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Gamme Piercings texte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Gamme titre Piercings"/>
          <p:cNvSpPr txBox="1"/>
          <p:nvPr/>
        </p:nvSpPr>
        <p:spPr>
          <a:xfrm>
            <a:off x="141732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Piercings</a:t>
            </a:r>
            <a:endParaRPr lang="en-US" sz="1900" dirty="0"/>
          </a:p>
        </p:txBody>
      </p:sp>
      <p:sp>
        <p:nvSpPr>
          <p:cNvPr id="12" name="Gamme détail Piercings"/>
          <p:cNvSpPr txBox="1"/>
          <p:nvPr/>
        </p:nvSpPr>
        <p:spPr>
          <a:xfrm>
            <a:off x="448056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Titane, ou sans perçage</a:t>
            </a:r>
            <a:endParaRPr lang="en-US" sz="1500" dirty="0"/>
          </a:p>
        </p:txBody>
      </p:sp>
      <p:sp>
        <p:nvSpPr>
          <p:cNvPr id="13" name="Gamme rôle Piercings"/>
          <p:cNvSpPr txBox="1"/>
          <p:nvPr/>
        </p:nvSpPr>
        <p:spPr>
          <a:xfrm>
            <a:off x="8686800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Produit d'appel n°3</a:t>
            </a:r>
            <a:endParaRPr lang="en-US" sz="1500" dirty="0"/>
          </a:p>
        </p:txBody>
      </p:sp>
      <p:sp>
        <p:nvSpPr>
          <p:cNvPr id="14" name="Gamme Foulards et cheveux cercle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Gamme Foulards et cheveux texte"/>
          <p:cNvSpPr txBox="1"/>
          <p:nvPr/>
        </p:nvSpPr>
        <p:spPr>
          <a:xfrm>
            <a:off x="5486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Gamme titre Foulards et cheveux"/>
          <p:cNvSpPr txBox="1"/>
          <p:nvPr/>
        </p:nvSpPr>
        <p:spPr>
          <a:xfrm>
            <a:off x="141732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Foulards et cheveux</a:t>
            </a:r>
            <a:endParaRPr lang="en-US" sz="1900" dirty="0"/>
          </a:p>
        </p:txBody>
      </p:sp>
      <p:sp>
        <p:nvSpPr>
          <p:cNvPr id="17" name="Gamme détail Foulards et cheveux"/>
          <p:cNvSpPr txBox="1"/>
          <p:nvPr/>
        </p:nvSpPr>
        <p:spPr>
          <a:xfrm>
            <a:off x="4480560" y="3246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Foulards satinés, pinces, barrettes</a:t>
            </a:r>
            <a:endParaRPr lang="en-US" sz="1500" dirty="0"/>
          </a:p>
        </p:txBody>
      </p:sp>
      <p:sp>
        <p:nvSpPr>
          <p:cNvPr id="18" name="Gamme rôle Foulards et cheveux"/>
          <p:cNvSpPr txBox="1"/>
          <p:nvPr/>
        </p:nvSpPr>
        <p:spPr>
          <a:xfrm>
            <a:off x="86868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Pour compléter le panier</a:t>
            </a:r>
            <a:endParaRPr lang="en-US" sz="1500" dirty="0"/>
          </a:p>
        </p:txBody>
      </p:sp>
      <p:sp>
        <p:nvSpPr>
          <p:cNvPr id="19" name="Gamme Sacs cercle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Gamme Sacs texte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Gamme titre Sacs"/>
          <p:cNvSpPr txBox="1"/>
          <p:nvPr/>
        </p:nvSpPr>
        <p:spPr>
          <a:xfrm>
            <a:off x="1417320" y="4023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Sacs</a:t>
            </a:r>
            <a:endParaRPr lang="en-US" sz="1900" dirty="0"/>
          </a:p>
        </p:txBody>
      </p:sp>
      <p:sp>
        <p:nvSpPr>
          <p:cNvPr id="22" name="Gamme détail Sacs"/>
          <p:cNvSpPr txBox="1"/>
          <p:nvPr/>
        </p:nvSpPr>
        <p:spPr>
          <a:xfrm>
            <a:off x="4480560" y="4023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Mini sac, pochette, sans logo</a:t>
            </a:r>
            <a:endParaRPr lang="en-US" sz="1500" dirty="0"/>
          </a:p>
        </p:txBody>
      </p:sp>
      <p:sp>
        <p:nvSpPr>
          <p:cNvPr id="23" name="Gamme rôle Sacs"/>
          <p:cNvSpPr txBox="1"/>
          <p:nvPr/>
        </p:nvSpPr>
        <p:spPr>
          <a:xfrm>
            <a:off x="868680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Pour monter le panier</a:t>
            </a:r>
            <a:endParaRPr lang="en-US" sz="1500" dirty="0"/>
          </a:p>
        </p:txBody>
      </p:sp>
      <p:sp>
        <p:nvSpPr>
          <p:cNvPr id="24" name="Gamme Parures cercle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Gamme Parures texte"/>
          <p:cNvSpPr txBox="1"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Gamme titre Parures"/>
          <p:cNvSpPr txBox="1"/>
          <p:nvPr/>
        </p:nvSpPr>
        <p:spPr>
          <a:xfrm>
            <a:off x="1417320" y="4800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Parures</a:t>
            </a:r>
            <a:endParaRPr lang="en-US" sz="1900" dirty="0"/>
          </a:p>
        </p:txBody>
      </p:sp>
      <p:sp>
        <p:nvSpPr>
          <p:cNvPr id="27" name="Gamme détail Parures"/>
          <p:cNvSpPr txBox="1"/>
          <p:nvPr/>
        </p:nvSpPr>
        <p:spPr>
          <a:xfrm>
            <a:off x="4480560" y="4800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Trois pièces en écrin</a:t>
            </a:r>
            <a:endParaRPr lang="en-US" sz="1500" dirty="0"/>
          </a:p>
        </p:txBody>
      </p:sp>
      <p:sp>
        <p:nvSpPr>
          <p:cNvPr id="28" name="Gamme rôle Parures"/>
          <p:cNvSpPr txBox="1"/>
          <p:nvPr/>
        </p:nvSpPr>
        <p:spPr>
          <a:xfrm>
            <a:off x="8686800" y="4800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Le cadeau</a:t>
            </a:r>
            <a:endParaRPr lang="en-US" sz="1500" dirty="0"/>
          </a:p>
        </p:txBody>
      </p:sp>
      <p:sp>
        <p:nvSpPr>
          <p:cNvPr id="29" name="Règle gamme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Règle : la cohérence vient du style (doré, crème, noir), pas du type de produit. Aucun logo de marque, « plaqué or » et « satiné », jamais « or » ou « soie » sans preuve.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LE PANIER MOYEN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marge vient des ensembles</a:t>
            </a:r>
            <a:endParaRPr lang="en-US" sz="3600" dirty="0"/>
          </a:p>
        </p:txBody>
      </p:sp>
      <p:graphicFrame>
        <p:nvGraphicFramePr>
          <p:cNvPr id="4" name="Graphique marges" descr=""/>
          <p:cNvGraphicFramePr/>
          <p:nvPr/>
        </p:nvGraphicFramePr>
        <p:xfrm>
          <a:off x="548640" y="169164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vier titre 1"/>
          <p:cNvSpPr txBox="1"/>
          <p:nvPr/>
        </p:nvSpPr>
        <p:spPr>
          <a:xfrm>
            <a:off x="749808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À porter avec</a:t>
            </a:r>
            <a:endParaRPr lang="en-US" sz="1800" dirty="0"/>
          </a:p>
        </p:txBody>
      </p:sp>
      <p:sp>
        <p:nvSpPr>
          <p:cNvPr id="6" name="Levier texte 1"/>
          <p:cNvSpPr txBox="1"/>
          <p:nvPr/>
        </p:nvSpPr>
        <p:spPr>
          <a:xfrm>
            <a:off x="7498080" y="2167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pièce assortie proposée sur la fiche, à un prix d'ensemble</a:t>
            </a:r>
            <a:endParaRPr lang="en-US" sz="1500" dirty="0"/>
          </a:p>
        </p:txBody>
      </p:sp>
      <p:sp>
        <p:nvSpPr>
          <p:cNvPr id="7" name="Levier titre 2"/>
          <p:cNvSpPr txBox="1"/>
          <p:nvPr/>
        </p:nvSpPr>
        <p:spPr>
          <a:xfrm>
            <a:off x="7498080" y="28620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Parures en écrin</a:t>
            </a:r>
            <a:endParaRPr lang="en-US" sz="1800" dirty="0"/>
          </a:p>
        </p:txBody>
      </p:sp>
      <p:sp>
        <p:nvSpPr>
          <p:cNvPr id="8" name="Levier texte 2"/>
          <p:cNvSpPr txBox="1"/>
          <p:nvPr/>
        </p:nvSpPr>
        <p:spPr>
          <a:xfrm>
            <a:off x="7498080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Trois pièces réunies, prêtes à offrir</a:t>
            </a:r>
            <a:endParaRPr lang="en-US" sz="1500" dirty="0"/>
          </a:p>
        </p:txBody>
      </p:sp>
      <p:sp>
        <p:nvSpPr>
          <p:cNvPr id="9" name="Levier titre 3"/>
          <p:cNvSpPr txBox="1"/>
          <p:nvPr/>
        </p:nvSpPr>
        <p:spPr>
          <a:xfrm>
            <a:off x="7498080" y="39410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Coffret à composer</a:t>
            </a:r>
            <a:endParaRPr lang="en-US" sz="1800" dirty="0"/>
          </a:p>
        </p:txBody>
      </p:sp>
      <p:sp>
        <p:nvSpPr>
          <p:cNvPr id="10" name="Levier texte 3"/>
          <p:cNvSpPr txBox="1"/>
          <p:nvPr/>
        </p:nvSpPr>
        <p:spPr>
          <a:xfrm>
            <a:off x="7498080" y="43251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3 pièces à 29,90 €, 5 pièces à 44,90 €</a:t>
            </a:r>
            <a:endParaRPr lang="en-US" sz="1500" dirty="0"/>
          </a:p>
        </p:txBody>
      </p:sp>
      <p:sp>
        <p:nvSpPr>
          <p:cNvPr id="11" name="Levier titre 4"/>
          <p:cNvSpPr txBox="1"/>
          <p:nvPr/>
        </p:nvSpPr>
        <p:spPr>
          <a:xfrm>
            <a:off x="7498080" y="50200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Livraison offerte</a:t>
            </a:r>
            <a:endParaRPr lang="en-US" sz="1800" dirty="0"/>
          </a:p>
        </p:txBody>
      </p:sp>
      <p:sp>
        <p:nvSpPr>
          <p:cNvPr id="12" name="Levier texte 4"/>
          <p:cNvSpPr txBox="1"/>
          <p:nvPr/>
        </p:nvSpPr>
        <p:spPr>
          <a:xfrm>
            <a:off x="7498080" y="54041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À partir de 35 €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CONFIANCE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urgence vraie, un ton de maison de bijoux</a:t>
            </a:r>
            <a:endParaRPr lang="en-US" sz="3600" dirty="0"/>
          </a:p>
        </p:txBody>
      </p:sp>
      <p:sp>
        <p:nvSpPr>
          <p:cNvPr id="4" name="Carte urgence"/>
          <p:cNvSpPr/>
          <p:nvPr/>
        </p:nvSpPr>
        <p:spPr>
          <a:xfrm>
            <a:off x="548640" y="1737360"/>
            <a:ext cx="5440680" cy="4389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Urgence titre"/>
          <p:cNvSpPr txBox="1"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L'urgence, toujours vraie</a:t>
            </a:r>
            <a:endParaRPr lang="en-US" sz="2000" dirty="0"/>
          </a:p>
        </p:txBody>
      </p:sp>
      <p:sp>
        <p:nvSpPr>
          <p:cNvPr id="6" name="Urgence liste"/>
          <p:cNvSpPr txBox="1"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Noël : « commandez avant le 8 décembre », calculé sur le vrai délai de livraison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Date de livraison estimée sur chaque fiche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Fête des mères, Saint-Valentin : de vraies dates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Jamais de faux compte à rebours, faux stock ni faux avis</a:t>
            </a:r>
            <a:endParaRPr lang="en-US" sz="1500" dirty="0"/>
          </a:p>
        </p:txBody>
      </p:sp>
      <p:graphicFrame>
        <p:nvGraphicFramePr>
          <p:cNvPr id="11" name="Tableau t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37360"/>
          <a:ext cx="5257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803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On n'écrit pas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On écrit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Best-seller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Les incontournables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−30 %, vous économisez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À porter avec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Box, pack, lot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Coffret, écrin, parure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Dépêchez-vous !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Pour Noël, commandez avant le…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Émojis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Aucun émoji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PUBLICITÉ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 petit, décider sur les chiffres</a:t>
            </a:r>
            <a:endParaRPr lang="en-US" sz="3600" dirty="0"/>
          </a:p>
        </p:txBody>
      </p:sp>
      <p:sp>
        <p:nvSpPr>
          <p:cNvPr id="4" name="Vidéo 1 cercle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Vidéo 1 texte"/>
          <p:cNvSpPr txBox="1"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Vidéo titre 1"/>
          <p:cNvSpPr txBox="1"/>
          <p:nvPr/>
        </p:nvSpPr>
        <p:spPr>
          <a:xfrm>
            <a:off x="1371600" y="1737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 Un bijou doré qui ne noircit pas. »</a:t>
            </a:r>
            <a:endParaRPr lang="en-US" sz="1700" dirty="0"/>
          </a:p>
        </p:txBody>
      </p:sp>
      <p:sp>
        <p:nvSpPr>
          <p:cNvPr id="7" name="Vidéo texte 1"/>
          <p:cNvSpPr txBox="1"/>
          <p:nvPr/>
        </p:nvSpPr>
        <p:spPr>
          <a:xfrm>
            <a:off x="1371600" y="2167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 collier porté, puis sous l'eau</a:t>
            </a:r>
            <a:endParaRPr lang="en-US" sz="1500" dirty="0"/>
          </a:p>
        </p:txBody>
      </p:sp>
      <p:sp>
        <p:nvSpPr>
          <p:cNvPr id="8" name="Vidéo 2 cercle"/>
          <p:cNvSpPr/>
          <p:nvPr/>
        </p:nvSpPr>
        <p:spPr>
          <a:xfrm>
            <a:off x="548640" y="297180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Vidéo 2 texte"/>
          <p:cNvSpPr txBox="1"/>
          <p:nvPr/>
        </p:nvSpPr>
        <p:spPr>
          <a:xfrm>
            <a:off x="54864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Vidéo titre 2"/>
          <p:cNvSpPr txBox="1"/>
          <p:nvPr/>
        </p:nvSpPr>
        <p:spPr>
          <a:xfrm>
            <a:off x="137160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 7 jours sous la douche. »</a:t>
            </a:r>
            <a:endParaRPr lang="en-US" sz="1700" dirty="0"/>
          </a:p>
        </p:txBody>
      </p:sp>
      <p:sp>
        <p:nvSpPr>
          <p:cNvPr id="11" name="Vidéo texte 2"/>
          <p:cNvSpPr txBox="1"/>
          <p:nvPr/>
        </p:nvSpPr>
        <p:spPr>
          <a:xfrm>
            <a:off x="1371600" y="3355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Jour 1, jour 3, jour 7 (si c'est vrai)</a:t>
            </a:r>
            <a:endParaRPr lang="en-US" sz="1500" dirty="0"/>
          </a:p>
        </p:txBody>
      </p:sp>
      <p:sp>
        <p:nvSpPr>
          <p:cNvPr id="12" name="Vidéo 3 cercle"/>
          <p:cNvSpPr/>
          <p:nvPr/>
        </p:nvSpPr>
        <p:spPr>
          <a:xfrm>
            <a:off x="548640" y="4160520"/>
            <a:ext cx="594360" cy="5943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Vidéo 3 texte"/>
          <p:cNvSpPr txBox="1"/>
          <p:nvPr/>
        </p:nvSpPr>
        <p:spPr>
          <a:xfrm>
            <a:off x="5486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Vidéo titre 3"/>
          <p:cNvSpPr txBox="1"/>
          <p:nvPr/>
        </p:nvSpPr>
        <p:spPr>
          <a:xfrm>
            <a:off x="1371600" y="4114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 L'allure d'un piercing, sans perçage. »</a:t>
            </a:r>
            <a:endParaRPr lang="en-US" sz="1700" dirty="0"/>
          </a:p>
        </p:txBody>
      </p:sp>
      <p:sp>
        <p:nvSpPr>
          <p:cNvPr id="15" name="Vidéo texte 3"/>
          <p:cNvSpPr txBox="1"/>
          <p:nvPr/>
        </p:nvSpPr>
        <p:spPr>
          <a:xfrm>
            <a:off x="1371600" y="45445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L'anneau posé en un geste</a:t>
            </a:r>
            <a:endParaRPr lang="en-US" sz="1500" dirty="0"/>
          </a:p>
        </p:txBody>
      </p:sp>
      <p:sp>
        <p:nvSpPr>
          <p:cNvPr id="16" name="Carte test"/>
          <p:cNvSpPr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st titre"/>
          <p:cNvSpPr txBox="1"/>
          <p:nvPr/>
        </p:nvSpPr>
        <p:spPr>
          <a:xfrm>
            <a:off x="699516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test</a:t>
            </a:r>
            <a:endParaRPr lang="en-US" sz="2000" dirty="0"/>
          </a:p>
        </p:txBody>
      </p:sp>
      <p:sp>
        <p:nvSpPr>
          <p:cNvPr id="18" name="Test liste"/>
          <p:cNvSpPr txBox="1"/>
          <p:nvPr/>
        </p:nvSpPr>
        <p:spPr>
          <a:xfrm>
            <a:off x="6995160" y="251460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3 vidéos × 10 € par jour, pendant 3 à 4 jours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Femmes de 18 à 45 ans, en France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 garde : clic &gt; 1,5 %, coût par clic &lt; 0,60 €, coût par achat &lt; 15 €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 coupe une vidéo sans ajout au panier après 25 €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PROCHAINES ÉTAPES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site à la première vente</a:t>
            </a:r>
            <a:endParaRPr lang="en-US" sz="3600" dirty="0"/>
          </a:p>
        </p:txBody>
      </p:sp>
      <p:sp>
        <p:nvSpPr>
          <p:cNvPr id="4" name="Étape 1 cercle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Étape 1 texte"/>
          <p:cNvSpPr txBox="1"/>
          <p:nvPr/>
        </p:nvSpPr>
        <p:spPr>
          <a:xfrm>
            <a:off x="12344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Liaison 1"/>
          <p:cNvSpPr/>
          <p:nvPr/>
        </p:nvSpPr>
        <p:spPr>
          <a:xfrm>
            <a:off x="2057400" y="2377440"/>
            <a:ext cx="13716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Étape titre 1"/>
          <p:cNvSpPr txBox="1"/>
          <p:nvPr/>
        </p:nvSpPr>
        <p:spPr>
          <a:xfrm>
            <a:off x="5486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Nom et domaine</a:t>
            </a:r>
            <a:endParaRPr lang="en-US" sz="1700" dirty="0"/>
          </a:p>
        </p:txBody>
      </p:sp>
      <p:sp>
        <p:nvSpPr>
          <p:cNvPr id="8" name="Étape texte 1"/>
          <p:cNvSpPr txBox="1"/>
          <p:nvPr/>
        </p:nvSpPr>
        <p:spPr>
          <a:xfrm>
            <a:off x="548640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Vérifier VAURE à l'INPI, réserver vaurestudio.com</a:t>
            </a:r>
            <a:endParaRPr lang="en-US" sz="1400" dirty="0"/>
          </a:p>
        </p:txBody>
      </p:sp>
      <p:sp>
        <p:nvSpPr>
          <p:cNvPr id="9" name="Étape 2 cercle"/>
          <p:cNvSpPr/>
          <p:nvPr/>
        </p:nvSpPr>
        <p:spPr>
          <a:xfrm>
            <a:off x="3483864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Étape 2 texte"/>
          <p:cNvSpPr txBox="1"/>
          <p:nvPr/>
        </p:nvSpPr>
        <p:spPr>
          <a:xfrm>
            <a:off x="348386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Liaison 2"/>
          <p:cNvSpPr/>
          <p:nvPr/>
        </p:nvSpPr>
        <p:spPr>
          <a:xfrm>
            <a:off x="4306824" y="2377440"/>
            <a:ext cx="13716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2" name="Étape titre 2"/>
          <p:cNvSpPr txBox="1"/>
          <p:nvPr/>
        </p:nvSpPr>
        <p:spPr>
          <a:xfrm>
            <a:off x="2798064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Produits CJ</a:t>
            </a:r>
            <a:endParaRPr lang="en-US" sz="1700" dirty="0"/>
          </a:p>
        </p:txBody>
      </p:sp>
      <p:sp>
        <p:nvSpPr>
          <p:cNvPr id="13" name="Étape texte 2"/>
          <p:cNvSpPr txBox="1"/>
          <p:nvPr/>
        </p:nvSpPr>
        <p:spPr>
          <a:xfrm>
            <a:off x="2798064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Bracelet et puces Marguerite, puis le reste du catalogue</a:t>
            </a:r>
            <a:endParaRPr lang="en-US" sz="1400" dirty="0"/>
          </a:p>
        </p:txBody>
      </p:sp>
      <p:sp>
        <p:nvSpPr>
          <p:cNvPr id="14" name="Étape 3 cercle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Étape 3 texte"/>
          <p:cNvSpPr txBox="1"/>
          <p:nvPr/>
        </p:nvSpPr>
        <p:spPr>
          <a:xfrm>
            <a:off x="573328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Liaison 3"/>
          <p:cNvSpPr/>
          <p:nvPr/>
        </p:nvSpPr>
        <p:spPr>
          <a:xfrm>
            <a:off x="6556248" y="2377440"/>
            <a:ext cx="13716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7" name="Étape titre 3"/>
          <p:cNvSpPr txBox="1"/>
          <p:nvPr/>
        </p:nvSpPr>
        <p:spPr>
          <a:xfrm>
            <a:off x="5047488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Échantillons</a:t>
            </a:r>
            <a:endParaRPr lang="en-US" sz="1700" dirty="0"/>
          </a:p>
        </p:txBody>
      </p:sp>
      <p:sp>
        <p:nvSpPr>
          <p:cNvPr id="18" name="Étape texte 3"/>
          <p:cNvSpPr txBox="1"/>
          <p:nvPr/>
        </p:nvSpPr>
        <p:spPr>
          <a:xfrm>
            <a:off x="5047488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Collier, anneau sans perçage, créoles : test de 7 jours</a:t>
            </a:r>
            <a:endParaRPr lang="en-US" sz="1400" dirty="0"/>
          </a:p>
        </p:txBody>
      </p:sp>
      <p:sp>
        <p:nvSpPr>
          <p:cNvPr id="19" name="Étape 4 cercle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Étape 4 texte"/>
          <p:cNvSpPr txBox="1"/>
          <p:nvPr/>
        </p:nvSpPr>
        <p:spPr>
          <a:xfrm>
            <a:off x="798271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Liaison 4"/>
          <p:cNvSpPr/>
          <p:nvPr/>
        </p:nvSpPr>
        <p:spPr>
          <a:xfrm>
            <a:off x="8805672" y="2377440"/>
            <a:ext cx="13716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2" name="Étape titre 4"/>
          <p:cNvSpPr txBox="1"/>
          <p:nvPr/>
        </p:nvSpPr>
        <p:spPr>
          <a:xfrm>
            <a:off x="7296912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Boutique Shopify</a:t>
            </a:r>
            <a:endParaRPr lang="en-US" sz="1700" dirty="0"/>
          </a:p>
        </p:txBody>
      </p:sp>
      <p:sp>
        <p:nvSpPr>
          <p:cNvPr id="23" name="Étape texte 4"/>
          <p:cNvSpPr txBox="1"/>
          <p:nvPr/>
        </p:nvSpPr>
        <p:spPr>
          <a:xfrm>
            <a:off x="7296912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Thème Dawn, applications, pages légales</a:t>
            </a:r>
            <a:endParaRPr lang="en-US" sz="1400" dirty="0"/>
          </a:p>
        </p:txBody>
      </p:sp>
      <p:sp>
        <p:nvSpPr>
          <p:cNvPr id="24" name="Étape 5 cercle"/>
          <p:cNvSpPr/>
          <p:nvPr/>
        </p:nvSpPr>
        <p:spPr>
          <a:xfrm>
            <a:off x="10232136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Étape 5 texte"/>
          <p:cNvSpPr txBox="1"/>
          <p:nvPr/>
        </p:nvSpPr>
        <p:spPr>
          <a:xfrm>
            <a:off x="1023213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Étape titre 5"/>
          <p:cNvSpPr txBox="1"/>
          <p:nvPr/>
        </p:nvSpPr>
        <p:spPr>
          <a:xfrm>
            <a:off x="954633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Premières pubs</a:t>
            </a:r>
            <a:endParaRPr lang="en-US" sz="1700" dirty="0"/>
          </a:p>
        </p:txBody>
      </p:sp>
      <p:sp>
        <p:nvSpPr>
          <p:cNvPr id="27" name="Étape texte 5"/>
          <p:cNvSpPr txBox="1"/>
          <p:nvPr/>
        </p:nvSpPr>
        <p:spPr>
          <a:xfrm>
            <a:off x="9546336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 vidéos, environ 150 €, décision sur les chiffres</a:t>
            </a:r>
            <a:endParaRPr lang="en-US" sz="1400" dirty="0"/>
          </a:p>
        </p:txBody>
      </p:sp>
      <p:sp>
        <p:nvSpPr>
          <p:cNvPr id="28" name="Site prêt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Le site de démonstration est prêt : accueil, collections, fiches, coffret, panier et pages d'aide.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EN RÉSUMÉ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65960"/>
            <a:ext cx="11064240" cy="2103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éclat qui dure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463040" y="4297680"/>
            <a:ext cx="923544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Une niche précise, un problème réel, un produit léger et rentable.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Prochaine étape : les échantillons et le premier test.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URE">
  <a:themeElements>
    <a:clrScheme name="VAURE">
      <a:dk1>
        <a:srgbClr val="151412"/>
      </a:dk1>
      <a:lt1>
        <a:srgbClr val="FFFFFF"/>
      </a:lt1>
      <a:dk2>
        <a:srgbClr val="5A554E"/>
      </a:dk2>
      <a:lt2>
        <a:srgbClr val="F6F2EB"/>
      </a:lt2>
      <a:accent1>
        <a:srgbClr val="B08D57"/>
      </a:accent1>
      <a:accent2>
        <a:srgbClr val="4E6B4F"/>
      </a:accent2>
      <a:accent3>
        <a:srgbClr val="9A4A3C"/>
      </a:accent3>
      <a:accent4>
        <a:srgbClr val="D9C7A3"/>
      </a:accent4>
      <a:accent5>
        <a:srgbClr val="E6DFD3"/>
      </a:accent5>
      <a:accent6>
        <a:srgbClr val="2E2B27"/>
      </a:accent6>
      <a:hlink>
        <a:srgbClr val="B08D57"/>
      </a:hlink>
      <a:folHlink>
        <a:srgbClr val="5A554E"/>
      </a:folHlink>
    </a:clrScheme>
    <a:fontScheme name="VA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VAURE — présentation du projet</dc:title>
  <dc:subject>PptxGenJS Presentation</dc:subject>
  <dc:creator>VAURE</dc:creator>
  <cp:lastModifiedBy>VAURE</cp:lastModifiedBy>
  <cp:revision>1</cp:revision>
  <dcterms:created xsi:type="dcterms:W3CDTF">2026-10-25T08:30:45Z</dcterms:created>
  <dcterms:modified xsi:type="dcterms:W3CDTF">2026-10-25T08:30:45Z</dcterms:modified>
</cp:coreProperties>
</file>