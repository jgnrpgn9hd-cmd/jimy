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085bd29-2ec6-53c7-cacf-53bc3b947985}">
          <p14:sldIdLst>
            <p14:sldId id="256"/>
          </p14:sldIdLst>
        </p14:section>
        <p14:section name="La niche" id="{57f7f67b-b0dc-6a16-20fb-f7273b9500bc}">
          <p14:sldIdLst>
            <p14:sldId id="257"/>
            <p14:sldId id="258"/>
            <p14:sldId id="259"/>
          </p14:sldIdLst>
        </p14:section>
        <p14:section name="Pourquoi" id="{81d018a2-cc9e-30a8-a389-f2e61a9125dd}">
          <p14:sldIdLst>
            <p14:sldId id="260"/>
          </p14:sldIdLst>
        </p14:section>
        <p14:section name="La marque" id="{03111b3c-f37a-b656-dd0a-d96b90324332}">
          <p14:sldIdLst>
            <p14:sldId id="261"/>
            <p14:sldId id="262"/>
          </p14:sldIdLst>
        </p14:section>
        <p14:section name="L'offre" id="{5bf65105-9449-ab88-0826-a3a3aa35503a}">
          <p14:sldIdLst>
            <p14:sldId id="263"/>
            <p14:sldId id="264"/>
            <p14:sldId id="265"/>
          </p14:sldIdLst>
        </p14:section>
        <p14:section name="Vendre" id="{9490bd39-79b2-4bf9-72f3-1712e4209a72}">
          <p14:sldIdLst>
            <p14:sldId id="266"/>
            <p14:sldId id="267"/>
            <p14:sldId id="268"/>
          </p14:sldIdLst>
        </p14:section>
        <p14:section name="Clôture" id="{843b542f-23a8-c512-bf13-87d5f7659c6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Ce qui reste par commande, avant la pub (sans TVA)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Reste avant la pub (€)</c:v>
                </c:pt>
              </c:strCache>
            </c:strRef>
          </c:tx>
          <c:spPr>
            <a:solidFill>
              <a:srgbClr val="B08D57"/>
            </a:solidFill>
            <a:effectLst/>
          </c:spPr>
          <c:invertIfNegative val="0"/>
          <c:dLbls>
            <c:numFmt formatCode="0.00&quot; €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Collier seul (24,90 €)</c:v>
                  </c:pt>
                  <c:pt idx="1">
                    <c:v>Collier + bracelet (38,80 €)</c:v>
                  </c:pt>
                  <c:pt idx="2">
                    <c:v>Parure en écrin (44,90 €)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17.51</c:v>
                </c:pt>
                <c:pt idx="1">
                  <c:v>25.6</c:v>
                </c:pt>
                <c:pt idx="2">
                  <c:v>27.5</c:v>
                </c:pt>
              </c:numCache>
            </c:numRef>
          </c:val>
        </c:ser>
        <c:dLbls>
          <c:numFmt formatCode="0.00&quot; €&quot;" sourceLinked="0"/>
          <c:txPr>
            <a:bodyPr/>
            <a:lstStyle/>
            <a:p>
              <a:pPr>
                <a:defRPr b="0" i="0" strike="noStrike" sz="14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projet VAURE. Le devoir demandé : dire la niche. La réponse est sur la diapositive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niche se dit du plus large au plus précis : marché, catégorie, niche. Ce qui la rend précise : la matière (316L et titane) et le problème réglé (le bijou qui noircit, verdit ou irrite).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cliente type et ses quatre problèmes. Chaque produit VAURE répond à l'un d'eux.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promesse en une phrase. Elle est en haut du site : « Des bijoux qui ne noircissent pas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produit est retenu s'il remplit au moins 3 critères sur 4. Le collier Marguerite les remplit tous.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 de symbole ni d'icône : le nom espacé suffit et reste lisible en petit (pied de page, emballage, Instagram).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polices sont des Google Fonts gratuites, utilisées sur le site. Cette présentation utilise Cambria et Calibri pour s'ouvrir correctement sur tous les ordinateurs.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 : 24,90 € moins 6,64 € de coût livré et environ 0,75 € de frais de paiement, soit 17,51 €. Avec la TVA, il reste 13,36 €. L'illustration sera remplacée par la photo de l'échantillon.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catalogue de départ reste petit : on ajoutera ce qui se vend.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de l'ensemble et de la parure sont des estimations : le coût du bracelet et des puces est à confirmer sur CJ. Objectif : un panier moyen d'au moins 35 €.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confiance compte autant que le produit : pas de vocabulaire de site discount, et une urgence qui correspond à une vraie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total du premier test : environ 150 €, plus environ 20 € d'échantillons.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site de démonstration est dans le dossier vaure/site du dépôt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Résumé : niche, problème, produit héros, prochaine étape.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tmp/claude-0/-home-user-Jimy/8d8dc964-050b-5d7d-a94e-200167cc2b39/scratchpad/deck/assets/logo-no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1055766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PROJET DE BOUTIQUE EN LIGNE</a:t>
            </a:r>
            <a:endParaRPr lang="en-US" sz="1400" dirty="0"/>
          </a:p>
        </p:txBody>
      </p:sp>
      <p:pic>
        <p:nvPicPr>
          <p:cNvPr id="3" name="Logo VAURE" descr="Logo VA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448" y="2331720"/>
            <a:ext cx="6400800" cy="11087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Des bijoux dorés qui ne noircissent pas.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Acier inoxydable 316L et titane, pour les femmes qui veulent briller tous les jours.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DEVOIR  ·  DIRE LA NICHE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niche en une phrase</a:t>
            </a:r>
            <a:endParaRPr lang="en-US" sz="3600" dirty="0"/>
          </a:p>
        </p:txBody>
      </p:sp>
      <p:sp>
        <p:nvSpPr>
          <p:cNvPr id="4" name="Encadré niche"/>
          <p:cNvSpPr/>
          <p:nvPr/>
        </p:nvSpPr>
        <p:spPr>
          <a:xfrm>
            <a:off x="548640" y="1691640"/>
            <a:ext cx="11091672" cy="1600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hrase niche"/>
          <p:cNvSpPr txBox="1"/>
          <p:nvPr/>
        </p:nvSpPr>
        <p:spPr>
          <a:xfrm>
            <a:off x="960120" y="1783080"/>
            <a:ext cx="102687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bijoux dorés en acier inoxydable et en titane 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ne noircissent pas et conviennent aux peaux sensibles</a:t>
            </a:r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pour les femmes de 18 à 45 ans qui achètent sur un coup de cœur ou pour offrir.</a:t>
            </a:r>
            <a:endParaRPr lang="en-US" sz="2200" dirty="0"/>
          </a:p>
        </p:txBody>
      </p:sp>
      <p:sp>
        <p:nvSpPr>
          <p:cNvPr id="6" name="Niveau 01"/>
          <p:cNvSpPr txBox="1"/>
          <p:nvPr/>
        </p:nvSpPr>
        <p:spPr>
          <a:xfrm>
            <a:off x="548640" y="3703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Niveau titre 01"/>
          <p:cNvSpPr txBox="1"/>
          <p:nvPr/>
        </p:nvSpPr>
        <p:spPr>
          <a:xfrm>
            <a:off x="548640" y="434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Marché</a:t>
            </a:r>
            <a:endParaRPr lang="en-US" sz="2000" dirty="0"/>
          </a:p>
        </p:txBody>
      </p:sp>
      <p:sp>
        <p:nvSpPr>
          <p:cNvPr id="8" name="Niveau texte 01"/>
          <p:cNvSpPr txBox="1"/>
          <p:nvPr/>
        </p:nvSpPr>
        <p:spPr>
          <a:xfrm>
            <a:off x="54864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 accessoires de mode féminins</a:t>
            </a:r>
            <a:endParaRPr lang="en-US" sz="1500" dirty="0"/>
          </a:p>
        </p:txBody>
      </p:sp>
      <p:sp>
        <p:nvSpPr>
          <p:cNvPr id="9" name="Niveau 02"/>
          <p:cNvSpPr txBox="1"/>
          <p:nvPr/>
        </p:nvSpPr>
        <p:spPr>
          <a:xfrm>
            <a:off x="4343400" y="3703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Niveau titre 02"/>
          <p:cNvSpPr txBox="1"/>
          <p:nvPr/>
        </p:nvSpPr>
        <p:spPr>
          <a:xfrm>
            <a:off x="4343400" y="434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Catégorie</a:t>
            </a:r>
            <a:endParaRPr lang="en-US" sz="2000" dirty="0"/>
          </a:p>
        </p:txBody>
      </p:sp>
      <p:sp>
        <p:nvSpPr>
          <p:cNvPr id="11" name="Niveau texte 02"/>
          <p:cNvSpPr txBox="1"/>
          <p:nvPr/>
        </p:nvSpPr>
        <p:spPr>
          <a:xfrm>
            <a:off x="43434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 bijoux fantaisie dorés</a:t>
            </a:r>
            <a:endParaRPr lang="en-US" sz="1500" dirty="0"/>
          </a:p>
        </p:txBody>
      </p:sp>
      <p:sp>
        <p:nvSpPr>
          <p:cNvPr id="12" name="Niveau 03"/>
          <p:cNvSpPr txBox="1"/>
          <p:nvPr/>
        </p:nvSpPr>
        <p:spPr>
          <a:xfrm>
            <a:off x="8138160" y="3703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Niveau titre 03"/>
          <p:cNvSpPr txBox="1"/>
          <p:nvPr/>
        </p:nvSpPr>
        <p:spPr>
          <a:xfrm>
            <a:off x="8138160" y="434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2000" dirty="0"/>
          </a:p>
        </p:txBody>
      </p:sp>
      <p:sp>
        <p:nvSpPr>
          <p:cNvPr id="14" name="Niveau texte 03"/>
          <p:cNvSpPr txBox="1"/>
          <p:nvPr/>
        </p:nvSpPr>
        <p:spPr>
          <a:xfrm>
            <a:off x="813816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Bijoux en acier 316L et titane qui ne noircissent pas, de 12,90 à 24,90 €</a:t>
            </a:r>
            <a:endParaRPr lang="en-US" sz="1500" dirty="0"/>
          </a:p>
        </p:txBody>
      </p:sp>
      <p:sp>
        <p:nvSpPr>
          <p:cNvPr id="15" name="Conclusion niche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Du plus large au plus précis : on ne parle pas à toutes les femmes, mais à celles dont les bijoux ont déjà noirci, verdi ou irrité.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LA CLIENTE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qui je vends</a:t>
            </a:r>
            <a:endParaRPr lang="en-US" sz="3600" dirty="0"/>
          </a:p>
        </p:txBody>
      </p:sp>
      <p:sp>
        <p:nvSpPr>
          <p:cNvPr id="4" name="Carte persona"/>
          <p:cNvSpPr/>
          <p:nvPr/>
        </p:nvSpPr>
        <p:spPr>
          <a:xfrm>
            <a:off x="548640" y="1737360"/>
            <a:ext cx="4846320" cy="4389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llustration collier" descr="Illustration coll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846320" cy="2011680"/>
          </a:xfrm>
          <a:prstGeom prst="rect">
            <a:avLst/>
          </a:prstGeom>
        </p:spPr>
      </p:pic>
      <p:sp>
        <p:nvSpPr>
          <p:cNvPr id="6" name="Persona nom"/>
          <p:cNvSpPr txBox="1"/>
          <p:nvPr/>
        </p:nvSpPr>
        <p:spPr>
          <a:xfrm>
            <a:off x="86868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Léa, 28 ans</a:t>
            </a:r>
            <a:endParaRPr lang="en-US" sz="2400" dirty="0"/>
          </a:p>
        </p:txBody>
      </p:sp>
      <p:sp>
        <p:nvSpPr>
          <p:cNvPr id="7" name="Persona détails"/>
          <p:cNvSpPr txBox="1"/>
          <p:nvPr/>
        </p:nvSpPr>
        <p:spPr>
          <a:xfrm>
            <a:off x="868680" y="44805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Active, en ville, sur Instagram et TikTok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Aime les bijoux fins et dorés, au quotidien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Budget « coup de cœur » : moins de 30 €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Achète aussi pour offrir</a:t>
            </a:r>
            <a:endParaRPr lang="en-US" sz="1500" dirty="0"/>
          </a:p>
        </p:txBody>
      </p:sp>
      <p:sp>
        <p:nvSpPr>
          <p:cNvPr id="8" name="Problème 01"/>
          <p:cNvSpPr txBox="1"/>
          <p:nvPr/>
        </p:nvSpPr>
        <p:spPr>
          <a:xfrm>
            <a:off x="5897880" y="1764792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Problème titre 01"/>
          <p:cNvSpPr txBox="1"/>
          <p:nvPr/>
        </p:nvSpPr>
        <p:spPr>
          <a:xfrm>
            <a:off x="6675120" y="1783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Ses bijoux noircissent</a:t>
            </a:r>
            <a:endParaRPr lang="en-US" sz="1800" dirty="0"/>
          </a:p>
        </p:txBody>
      </p:sp>
      <p:sp>
        <p:nvSpPr>
          <p:cNvPr id="10" name="Problème texte 01"/>
          <p:cNvSpPr txBox="1"/>
          <p:nvPr/>
        </p:nvSpPr>
        <p:spPr>
          <a:xfrm>
            <a:off x="6675120" y="21945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collier à 5 € perd sa couleur en deux semaines.</a:t>
            </a:r>
            <a:endParaRPr lang="en-US" sz="1500" dirty="0"/>
          </a:p>
        </p:txBody>
      </p:sp>
      <p:sp>
        <p:nvSpPr>
          <p:cNvPr id="11" name="Problème 02"/>
          <p:cNvSpPr txBox="1"/>
          <p:nvPr/>
        </p:nvSpPr>
        <p:spPr>
          <a:xfrm>
            <a:off x="5897880" y="2843784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Problème titre 02"/>
          <p:cNvSpPr txBox="1"/>
          <p:nvPr/>
        </p:nvSpPr>
        <p:spPr>
          <a:xfrm>
            <a:off x="6675120" y="28620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Ils laissent une trace verte</a:t>
            </a:r>
            <a:endParaRPr lang="en-US" sz="1800" dirty="0"/>
          </a:p>
        </p:txBody>
      </p:sp>
      <p:sp>
        <p:nvSpPr>
          <p:cNvPr id="13" name="Problème texte 02"/>
          <p:cNvSpPr txBox="1"/>
          <p:nvPr/>
        </p:nvSpPr>
        <p:spPr>
          <a:xfrm>
            <a:off x="6675120" y="327355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Ou ils irritent : oreilles, cou, nez.</a:t>
            </a:r>
            <a:endParaRPr lang="en-US" sz="1500" dirty="0"/>
          </a:p>
        </p:txBody>
      </p:sp>
      <p:sp>
        <p:nvSpPr>
          <p:cNvPr id="14" name="Problème 03"/>
          <p:cNvSpPr txBox="1"/>
          <p:nvPr/>
        </p:nvSpPr>
        <p:spPr>
          <a:xfrm>
            <a:off x="5897880" y="3922776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Problème titre 03"/>
          <p:cNvSpPr txBox="1"/>
          <p:nvPr/>
        </p:nvSpPr>
        <p:spPr>
          <a:xfrm>
            <a:off x="6675120" y="39410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Elle n'ose pas se faire percer</a:t>
            </a:r>
            <a:endParaRPr lang="en-US" sz="1800" dirty="0"/>
          </a:p>
        </p:txBody>
      </p:sp>
      <p:sp>
        <p:nvSpPr>
          <p:cNvPr id="16" name="Problème texte 03"/>
          <p:cNvSpPr txBox="1"/>
          <p:nvPr/>
        </p:nvSpPr>
        <p:spPr>
          <a:xfrm>
            <a:off x="6675120" y="43525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Elle aime le style piercing, pas le perçage.</a:t>
            </a:r>
            <a:endParaRPr lang="en-US" sz="1500" dirty="0"/>
          </a:p>
        </p:txBody>
      </p:sp>
      <p:sp>
        <p:nvSpPr>
          <p:cNvPr id="17" name="Problème 04"/>
          <p:cNvSpPr txBox="1"/>
          <p:nvPr/>
        </p:nvSpPr>
        <p:spPr>
          <a:xfrm>
            <a:off x="5897880" y="5001768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Problème titre 04"/>
          <p:cNvSpPr txBox="1"/>
          <p:nvPr/>
        </p:nvSpPr>
        <p:spPr>
          <a:xfrm>
            <a:off x="6675120" y="50200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Elle cherche un cadeau</a:t>
            </a:r>
            <a:endParaRPr lang="en-US" sz="1800" dirty="0"/>
          </a:p>
        </p:txBody>
      </p:sp>
      <p:sp>
        <p:nvSpPr>
          <p:cNvPr id="19" name="Problème texte 04"/>
          <p:cNvSpPr txBox="1"/>
          <p:nvPr/>
        </p:nvSpPr>
        <p:spPr>
          <a:xfrm>
            <a:off x="6675120" y="543153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Joli, sûr, livré à temps pour la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LA PROMESSE PRODUIT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Mon bijou aide ma cliente à briller tous les jours, sans qu'il noircisse ni l'irrite. »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Mon produit aide ma cliente à ___, sans ___.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POURQUOI CETTE NICHE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critères d'un bon produit</a:t>
            </a:r>
            <a:endParaRPr lang="en-US" sz="3600" dirty="0"/>
          </a:p>
        </p:txBody>
      </p:sp>
      <p:sp>
        <p:nvSpPr>
          <p:cNvPr id="4" name="Critère 01"/>
          <p:cNvSpPr/>
          <p:nvPr/>
        </p:nvSpPr>
        <p:spPr>
          <a:xfrm>
            <a:off x="548640" y="169164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ritère numéro 01"/>
          <p:cNvSpPr txBox="1"/>
          <p:nvPr/>
        </p:nvSpPr>
        <p:spPr>
          <a:xfrm>
            <a:off x="868680" y="1965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Critère titre 01"/>
          <p:cNvSpPr txBox="1"/>
          <p:nvPr/>
        </p:nvSpPr>
        <p:spPr>
          <a:xfrm>
            <a:off x="1737360" y="1984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Effet wow</a:t>
            </a:r>
            <a:endParaRPr lang="en-US" sz="2000" dirty="0"/>
          </a:p>
        </p:txBody>
      </p:sp>
      <p:sp>
        <p:nvSpPr>
          <p:cNvPr id="7" name="Critère texte 01"/>
          <p:cNvSpPr txBox="1"/>
          <p:nvPr/>
        </p:nvSpPr>
        <p:spPr>
          <a:xfrm>
            <a:off x="1737360" y="249631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Gros plan doré en vidéo, test sous la douche, bijou sans perçage posé en un geste</a:t>
            </a:r>
            <a:endParaRPr lang="en-US" sz="1500" dirty="0"/>
          </a:p>
        </p:txBody>
      </p:sp>
      <p:sp>
        <p:nvSpPr>
          <p:cNvPr id="8" name="Critère 02"/>
          <p:cNvSpPr/>
          <p:nvPr/>
        </p:nvSpPr>
        <p:spPr>
          <a:xfrm>
            <a:off x="6190488" y="169164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ritère numéro 02"/>
          <p:cNvSpPr txBox="1"/>
          <p:nvPr/>
        </p:nvSpPr>
        <p:spPr>
          <a:xfrm>
            <a:off x="6510528" y="1965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Critère titre 02"/>
          <p:cNvSpPr txBox="1"/>
          <p:nvPr/>
        </p:nvSpPr>
        <p:spPr>
          <a:xfrm>
            <a:off x="7379208" y="1984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Problème-solution</a:t>
            </a:r>
            <a:endParaRPr lang="en-US" sz="2000" dirty="0"/>
          </a:p>
        </p:txBody>
      </p:sp>
      <p:sp>
        <p:nvSpPr>
          <p:cNvPr id="11" name="Critère texte 02"/>
          <p:cNvSpPr txBox="1"/>
          <p:nvPr/>
        </p:nvSpPr>
        <p:spPr>
          <a:xfrm>
            <a:off x="7379208" y="249631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bijou qui noircit, verdit ou irrite est une gêne connue de presque toutes les femmes</a:t>
            </a:r>
            <a:endParaRPr lang="en-US" sz="1500" dirty="0"/>
          </a:p>
        </p:txBody>
      </p:sp>
      <p:sp>
        <p:nvSpPr>
          <p:cNvPr id="12" name="Critère 03"/>
          <p:cNvSpPr/>
          <p:nvPr/>
        </p:nvSpPr>
        <p:spPr>
          <a:xfrm>
            <a:off x="548640" y="370332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ritère numéro 03"/>
          <p:cNvSpPr txBox="1"/>
          <p:nvPr/>
        </p:nvSpPr>
        <p:spPr>
          <a:xfrm>
            <a:off x="868680" y="3977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Critère titre 03"/>
          <p:cNvSpPr txBox="1"/>
          <p:nvPr/>
        </p:nvSpPr>
        <p:spPr>
          <a:xfrm>
            <a:off x="1737360" y="3995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</a:t>
            </a:r>
            <a:endParaRPr lang="en-US" sz="2000" dirty="0"/>
          </a:p>
        </p:txBody>
      </p:sp>
      <p:sp>
        <p:nvSpPr>
          <p:cNvPr id="15" name="Critère texte 03"/>
          <p:cNvSpPr txBox="1"/>
          <p:nvPr/>
        </p:nvSpPr>
        <p:spPr>
          <a:xfrm>
            <a:off x="1737360" y="450799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Collier Marguerite : 6,64 € livré, vendu 24,90 €, soit 17,51 € avant la pub</a:t>
            </a:r>
            <a:endParaRPr lang="en-US" sz="1500" dirty="0"/>
          </a:p>
        </p:txBody>
      </p:sp>
      <p:sp>
        <p:nvSpPr>
          <p:cNvPr id="16" name="Critère 04"/>
          <p:cNvSpPr/>
          <p:nvPr/>
        </p:nvSpPr>
        <p:spPr>
          <a:xfrm>
            <a:off x="6190488" y="370332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ritère numéro 04"/>
          <p:cNvSpPr txBox="1"/>
          <p:nvPr/>
        </p:nvSpPr>
        <p:spPr>
          <a:xfrm>
            <a:off x="6510528" y="3977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Critère titre 04"/>
          <p:cNvSpPr txBox="1"/>
          <p:nvPr/>
        </p:nvSpPr>
        <p:spPr>
          <a:xfrm>
            <a:off x="7379208" y="3995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</a:t>
            </a:r>
            <a:endParaRPr lang="en-US" sz="2000" dirty="0"/>
          </a:p>
        </p:txBody>
      </p:sp>
      <p:sp>
        <p:nvSpPr>
          <p:cNvPr id="19" name="Critère texte 04"/>
          <p:cNvSpPr txBox="1"/>
          <p:nvPr/>
        </p:nvSpPr>
        <p:spPr>
          <a:xfrm>
            <a:off x="7379208" y="450799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Achat coup de cœur sous 30 €, aucune taille, cadeau toute l'année</a:t>
            </a:r>
            <a:endParaRPr lang="en-US" sz="1500" dirty="0"/>
          </a:p>
        </p:txBody>
      </p:sp>
      <p:sp>
        <p:nvSpPr>
          <p:cNvPr id="20" name="Verdict critères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4 critères sur 4. Un bon produit en remplit au moins 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IDENTITÉ DE MARQUE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logo</a:t>
            </a:r>
            <a:endParaRPr lang="en-US" sz="3600" dirty="0"/>
          </a:p>
        </p:txBody>
      </p:sp>
      <p:sp>
        <p:nvSpPr>
          <p:cNvPr id="4" name="Fond noir logo"/>
          <p:cNvSpPr/>
          <p:nvPr/>
        </p:nvSpPr>
        <p:spPr>
          <a:xfrm>
            <a:off x="548640" y="1691640"/>
            <a:ext cx="5440680" cy="33832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ivoire sur noir" descr="Logo ivoire sur no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030857"/>
            <a:ext cx="4069080" cy="704847"/>
          </a:xfrm>
          <a:prstGeom prst="rect">
            <a:avLst/>
          </a:prstGeom>
        </p:spPr>
      </p:pic>
      <p:sp>
        <p:nvSpPr>
          <p:cNvPr id="6" name="Fond clair logo"/>
          <p:cNvSpPr/>
          <p:nvPr/>
        </p:nvSpPr>
        <p:spPr>
          <a:xfrm>
            <a:off x="6199632" y="1691640"/>
            <a:ext cx="544068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Logo noir sur clair" descr="Logo noir sur cl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3030857"/>
            <a:ext cx="4069080" cy="704847"/>
          </a:xfrm>
          <a:prstGeom prst="rect">
            <a:avLst/>
          </a:prstGeom>
        </p:spPr>
      </p:pic>
      <p:sp>
        <p:nvSpPr>
          <p:cNvPr id="8" name="Légende logo sombre"/>
          <p:cNvSpPr txBox="1"/>
          <p:nvPr/>
        </p:nvSpPr>
        <p:spPr>
          <a:xfrm>
            <a:off x="548640" y="5212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Sur fond sombre : ivoire</a:t>
            </a:r>
            <a:endParaRPr lang="en-US" sz="1500" dirty="0"/>
          </a:p>
        </p:txBody>
      </p:sp>
      <p:sp>
        <p:nvSpPr>
          <p:cNvPr id="9" name="Légende logo clair"/>
          <p:cNvSpPr txBox="1"/>
          <p:nvPr/>
        </p:nvSpPr>
        <p:spPr>
          <a:xfrm>
            <a:off x="6199632" y="5212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Sur fond clair : noir encre</a:t>
            </a:r>
            <a:endParaRPr lang="en-US" sz="1500" dirty="0"/>
          </a:p>
        </p:txBody>
      </p:sp>
      <p:sp>
        <p:nvSpPr>
          <p:cNvPr id="10" name="Explication logo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nom seul, en capitales espacées, dans la police Bodoni Moda : simple, lisible dans toutes les langues, et proche des codes de la joaillerie.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IDENTITÉ DE MARQUE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Polices et couleurs</a:t>
            </a:r>
            <a:endParaRPr lang="en-US" sz="3600" dirty="0"/>
          </a:p>
        </p:txBody>
      </p:sp>
      <p:sp>
        <p:nvSpPr>
          <p:cNvPr id="4" name="Carte polices"/>
          <p:cNvSpPr/>
          <p:nvPr/>
        </p:nvSpPr>
        <p:spPr>
          <a:xfrm>
            <a:off x="548640" y="1691640"/>
            <a:ext cx="521208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Exemple Bodoni Moda" descr="Exemple Bodoni Mo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603434" cy="1303020"/>
          </a:xfrm>
          <a:prstGeom prst="rect">
            <a:avLst/>
          </a:prstGeom>
        </p:spPr>
      </p:pic>
      <p:sp>
        <p:nvSpPr>
          <p:cNvPr id="6" name="Police titres nom"/>
          <p:cNvSpPr txBox="1"/>
          <p:nvPr/>
        </p:nvSpPr>
        <p:spPr>
          <a:xfrm>
            <a:off x="370332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Bodoni Moda</a:t>
            </a:r>
            <a:endParaRPr lang="en-US" sz="1800" dirty="0"/>
          </a:p>
        </p:txBody>
      </p:sp>
      <p:sp>
        <p:nvSpPr>
          <p:cNvPr id="7" name="Police titres rôle"/>
          <p:cNvSpPr txBox="1"/>
          <p:nvPr/>
        </p:nvSpPr>
        <p:spPr>
          <a:xfrm>
            <a:off x="3703320" y="2468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Logo et titres</a:t>
            </a:r>
            <a:endParaRPr lang="en-US" sz="1500" dirty="0"/>
          </a:p>
        </p:txBody>
      </p:sp>
      <p:pic>
        <p:nvPicPr>
          <p:cNvPr id="8" name="Exemple Manrope" descr="Exemple Manr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69080"/>
            <a:ext cx="4480560" cy="1239779"/>
          </a:xfrm>
          <a:prstGeom prst="rect">
            <a:avLst/>
          </a:prstGeom>
        </p:spPr>
      </p:pic>
      <p:sp>
        <p:nvSpPr>
          <p:cNvPr id="9" name="Police textes"/>
          <p:cNvSpPr txBox="1"/>
          <p:nvPr/>
        </p:nvSpPr>
        <p:spPr>
          <a:xfrm>
            <a:off x="914400" y="5440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Manrope : textes, prix et boutons</a:t>
            </a:r>
            <a:endParaRPr lang="en-US" sz="1500" dirty="0"/>
          </a:p>
        </p:txBody>
      </p:sp>
      <p:sp>
        <p:nvSpPr>
          <p:cNvPr id="10" name="Pastille Noir encre"/>
          <p:cNvSpPr/>
          <p:nvPr/>
        </p:nvSpPr>
        <p:spPr>
          <a:xfrm>
            <a:off x="6172200" y="1691640"/>
            <a:ext cx="868680" cy="1234440"/>
          </a:xfrm>
          <a:prstGeom prst="rect">
            <a:avLst/>
          </a:prstGeom>
          <a:solidFill>
            <a:srgbClr val="151412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11" name="Couleur nom Noir encre"/>
          <p:cNvSpPr txBox="1"/>
          <p:nvPr/>
        </p:nvSpPr>
        <p:spPr>
          <a:xfrm>
            <a:off x="7178040" y="17373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Noir encre</a:t>
            </a:r>
            <a:endParaRPr lang="en-US" sz="1500" dirty="0"/>
          </a:p>
        </p:txBody>
      </p:sp>
      <p:sp>
        <p:nvSpPr>
          <p:cNvPr id="12" name="Couleur code Noir encre"/>
          <p:cNvSpPr txBox="1"/>
          <p:nvPr/>
        </p:nvSpPr>
        <p:spPr>
          <a:xfrm>
            <a:off x="717804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#151412</a:t>
            </a:r>
            <a:endParaRPr lang="en-US" sz="1200" dirty="0"/>
          </a:p>
        </p:txBody>
      </p:sp>
      <p:sp>
        <p:nvSpPr>
          <p:cNvPr id="13" name="Couleur rôle Noir encre"/>
          <p:cNvSpPr txBox="1"/>
          <p:nvPr/>
        </p:nvSpPr>
        <p:spPr>
          <a:xfrm>
            <a:off x="7178040" y="2350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Textes, fonds sombres, boutons</a:t>
            </a:r>
            <a:endParaRPr lang="en-US" sz="1200" dirty="0"/>
          </a:p>
        </p:txBody>
      </p:sp>
      <p:sp>
        <p:nvSpPr>
          <p:cNvPr id="14" name="Pastille Or"/>
          <p:cNvSpPr/>
          <p:nvPr/>
        </p:nvSpPr>
        <p:spPr>
          <a:xfrm>
            <a:off x="8915400" y="1691640"/>
            <a:ext cx="868680" cy="1234440"/>
          </a:xfrm>
          <a:prstGeom prst="rect">
            <a:avLst/>
          </a:prstGeom>
          <a:solidFill>
            <a:srgbClr val="B08D57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15" name="Couleur nom Or"/>
          <p:cNvSpPr txBox="1"/>
          <p:nvPr/>
        </p:nvSpPr>
        <p:spPr>
          <a:xfrm>
            <a:off x="9921240" y="17373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</a:t>
            </a:r>
            <a:endParaRPr lang="en-US" sz="1500" dirty="0"/>
          </a:p>
        </p:txBody>
      </p:sp>
      <p:sp>
        <p:nvSpPr>
          <p:cNvPr id="16" name="Couleur code Or"/>
          <p:cNvSpPr txBox="1"/>
          <p:nvPr/>
        </p:nvSpPr>
        <p:spPr>
          <a:xfrm>
            <a:off x="992124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#B08D57</a:t>
            </a:r>
            <a:endParaRPr lang="en-US" sz="1200" dirty="0"/>
          </a:p>
        </p:txBody>
      </p:sp>
      <p:sp>
        <p:nvSpPr>
          <p:cNvPr id="17" name="Couleur rôle Or"/>
          <p:cNvSpPr txBox="1"/>
          <p:nvPr/>
        </p:nvSpPr>
        <p:spPr>
          <a:xfrm>
            <a:off x="9921240" y="2350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Accents, petits titres</a:t>
            </a:r>
            <a:endParaRPr lang="en-US" sz="1200" dirty="0"/>
          </a:p>
        </p:txBody>
      </p:sp>
      <p:sp>
        <p:nvSpPr>
          <p:cNvPr id="18" name="Pastille Or clair"/>
          <p:cNvSpPr/>
          <p:nvPr/>
        </p:nvSpPr>
        <p:spPr>
          <a:xfrm>
            <a:off x="6172200" y="3227832"/>
            <a:ext cx="868680" cy="1234440"/>
          </a:xfrm>
          <a:prstGeom prst="rect">
            <a:avLst/>
          </a:prstGeom>
          <a:solidFill>
            <a:srgbClr val="C9A35E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19" name="Couleur nom Or clair"/>
          <p:cNvSpPr txBox="1"/>
          <p:nvPr/>
        </p:nvSpPr>
        <p:spPr>
          <a:xfrm>
            <a:off x="7178040" y="32735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clair</a:t>
            </a:r>
            <a:endParaRPr lang="en-US" sz="1500" dirty="0"/>
          </a:p>
        </p:txBody>
      </p:sp>
      <p:sp>
        <p:nvSpPr>
          <p:cNvPr id="20" name="Couleur code Or clair"/>
          <p:cNvSpPr txBox="1"/>
          <p:nvPr/>
        </p:nvSpPr>
        <p:spPr>
          <a:xfrm>
            <a:off x="7178040" y="35935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#C9A35E</a:t>
            </a:r>
            <a:endParaRPr lang="en-US" sz="1200" dirty="0"/>
          </a:p>
        </p:txBody>
      </p:sp>
      <p:sp>
        <p:nvSpPr>
          <p:cNvPr id="21" name="Couleur rôle Or clair"/>
          <p:cNvSpPr txBox="1"/>
          <p:nvPr/>
        </p:nvSpPr>
        <p:spPr>
          <a:xfrm>
            <a:off x="7178040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Bijoux, illustrations</a:t>
            </a:r>
            <a:endParaRPr lang="en-US" sz="1200" dirty="0"/>
          </a:p>
        </p:txBody>
      </p:sp>
      <p:sp>
        <p:nvSpPr>
          <p:cNvPr id="22" name="Pastille Ivoire"/>
          <p:cNvSpPr/>
          <p:nvPr/>
        </p:nvSpPr>
        <p:spPr>
          <a:xfrm>
            <a:off x="8915400" y="3227832"/>
            <a:ext cx="868680" cy="1234440"/>
          </a:xfrm>
          <a:prstGeom prst="rect">
            <a:avLst/>
          </a:prstGeom>
          <a:solidFill>
            <a:srgbClr val="F8F5F0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23" name="Couleur nom Ivoire"/>
          <p:cNvSpPr txBox="1"/>
          <p:nvPr/>
        </p:nvSpPr>
        <p:spPr>
          <a:xfrm>
            <a:off x="9921240" y="32735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Ivoire</a:t>
            </a:r>
            <a:endParaRPr lang="en-US" sz="1500" dirty="0"/>
          </a:p>
        </p:txBody>
      </p:sp>
      <p:sp>
        <p:nvSpPr>
          <p:cNvPr id="24" name="Couleur code Ivoire"/>
          <p:cNvSpPr txBox="1"/>
          <p:nvPr/>
        </p:nvSpPr>
        <p:spPr>
          <a:xfrm>
            <a:off x="9921240" y="35935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#F8F5F0</a:t>
            </a:r>
            <a:endParaRPr lang="en-US" sz="1200" dirty="0"/>
          </a:p>
        </p:txBody>
      </p:sp>
      <p:sp>
        <p:nvSpPr>
          <p:cNvPr id="25" name="Couleur rôle Ivoire"/>
          <p:cNvSpPr txBox="1"/>
          <p:nvPr/>
        </p:nvSpPr>
        <p:spPr>
          <a:xfrm>
            <a:off x="9921240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Fond du site</a:t>
            </a:r>
            <a:endParaRPr lang="en-US" sz="1200" dirty="0"/>
          </a:p>
        </p:txBody>
      </p:sp>
      <p:sp>
        <p:nvSpPr>
          <p:cNvPr id="26" name="Pastille Sable"/>
          <p:cNvSpPr/>
          <p:nvPr/>
        </p:nvSpPr>
        <p:spPr>
          <a:xfrm>
            <a:off x="6172200" y="4764024"/>
            <a:ext cx="868680" cy="1234440"/>
          </a:xfrm>
          <a:prstGeom prst="rect">
            <a:avLst/>
          </a:prstGeom>
          <a:solidFill>
            <a:srgbClr val="EFE9E0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27" name="Couleur nom Sable"/>
          <p:cNvSpPr txBox="1"/>
          <p:nvPr/>
        </p:nvSpPr>
        <p:spPr>
          <a:xfrm>
            <a:off x="7178040" y="480974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Sable</a:t>
            </a:r>
            <a:endParaRPr lang="en-US" sz="1500" dirty="0"/>
          </a:p>
        </p:txBody>
      </p:sp>
      <p:sp>
        <p:nvSpPr>
          <p:cNvPr id="28" name="Couleur code Sable"/>
          <p:cNvSpPr txBox="1"/>
          <p:nvPr/>
        </p:nvSpPr>
        <p:spPr>
          <a:xfrm>
            <a:off x="7178040" y="51297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#EFE9E0</a:t>
            </a:r>
            <a:endParaRPr lang="en-US" sz="1200" dirty="0"/>
          </a:p>
        </p:txBody>
      </p:sp>
      <p:sp>
        <p:nvSpPr>
          <p:cNvPr id="29" name="Couleur rôle Sable"/>
          <p:cNvSpPr txBox="1"/>
          <p:nvPr/>
        </p:nvSpPr>
        <p:spPr>
          <a:xfrm>
            <a:off x="7178040" y="54223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Fonds alternés, cartes</a:t>
            </a:r>
            <a:endParaRPr lang="en-US" sz="1200" dirty="0"/>
          </a:p>
        </p:txBody>
      </p:sp>
      <p:sp>
        <p:nvSpPr>
          <p:cNvPr id="30" name="Pastille Gris chaud"/>
          <p:cNvSpPr/>
          <p:nvPr/>
        </p:nvSpPr>
        <p:spPr>
          <a:xfrm>
            <a:off x="8915400" y="4764024"/>
            <a:ext cx="868680" cy="1234440"/>
          </a:xfrm>
          <a:prstGeom prst="rect">
            <a:avLst/>
          </a:prstGeom>
          <a:solidFill>
            <a:srgbClr val="5A554E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31" name="Couleur nom Gris chaud"/>
          <p:cNvSpPr txBox="1"/>
          <p:nvPr/>
        </p:nvSpPr>
        <p:spPr>
          <a:xfrm>
            <a:off x="9921240" y="480974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Gris chaud</a:t>
            </a:r>
            <a:endParaRPr lang="en-US" sz="1500" dirty="0"/>
          </a:p>
        </p:txBody>
      </p:sp>
      <p:sp>
        <p:nvSpPr>
          <p:cNvPr id="32" name="Couleur code Gris chaud"/>
          <p:cNvSpPr txBox="1"/>
          <p:nvPr/>
        </p:nvSpPr>
        <p:spPr>
          <a:xfrm>
            <a:off x="9921240" y="51297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#5A554E</a:t>
            </a:r>
            <a:endParaRPr lang="en-US" sz="1200" dirty="0"/>
          </a:p>
        </p:txBody>
      </p:sp>
      <p:sp>
        <p:nvSpPr>
          <p:cNvPr id="33" name="Couleur rôle Gris chaud"/>
          <p:cNvSpPr txBox="1"/>
          <p:nvPr/>
        </p:nvSpPr>
        <p:spPr>
          <a:xfrm>
            <a:off x="9921240" y="54223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Textes secondaires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LE PRODUIT HÉROS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collier Marguerite</a:t>
            </a:r>
            <a:endParaRPr lang="en-US" sz="3600" dirty="0"/>
          </a:p>
        </p:txBody>
      </p:sp>
      <p:pic>
        <p:nvPicPr>
          <p:cNvPr id="4" name="Illustration du collier Marguerite" descr="Illustration du collier Marguer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480560" cy="4480560"/>
          </a:xfrm>
          <a:prstGeom prst="rect">
            <a:avLst/>
          </a:prstGeom>
        </p:spPr>
      </p:pic>
      <p:sp>
        <p:nvSpPr>
          <p:cNvPr id="5" name="Chiffre 1"/>
          <p:cNvSpPr/>
          <p:nvPr/>
        </p:nvSpPr>
        <p:spPr>
          <a:xfrm>
            <a:off x="5349240" y="1691640"/>
            <a:ext cx="1993392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iffre valeur 1"/>
          <p:cNvSpPr txBox="1"/>
          <p:nvPr/>
        </p:nvSpPr>
        <p:spPr>
          <a:xfrm>
            <a:off x="5440680" y="18288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6,64 €</a:t>
            </a:r>
            <a:endParaRPr lang="en-US" sz="3000" dirty="0"/>
          </a:p>
        </p:txBody>
      </p:sp>
      <p:sp>
        <p:nvSpPr>
          <p:cNvPr id="7" name="Chiffre libellé 1"/>
          <p:cNvSpPr txBox="1"/>
          <p:nvPr/>
        </p:nvSpPr>
        <p:spPr>
          <a:xfrm>
            <a:off x="5458968" y="265176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coût livré en France</a:t>
            </a:r>
            <a:endParaRPr lang="en-US" sz="1300" dirty="0"/>
          </a:p>
        </p:txBody>
      </p:sp>
      <p:sp>
        <p:nvSpPr>
          <p:cNvPr id="8" name="Chiffre 2"/>
          <p:cNvSpPr/>
          <p:nvPr/>
        </p:nvSpPr>
        <p:spPr>
          <a:xfrm>
            <a:off x="7470648" y="1691640"/>
            <a:ext cx="1993392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hiffre valeur 2"/>
          <p:cNvSpPr txBox="1"/>
          <p:nvPr/>
        </p:nvSpPr>
        <p:spPr>
          <a:xfrm>
            <a:off x="7562088" y="18288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24,90 €</a:t>
            </a:r>
            <a:endParaRPr lang="en-US" sz="3000" dirty="0"/>
          </a:p>
        </p:txBody>
      </p:sp>
      <p:sp>
        <p:nvSpPr>
          <p:cNvPr id="10" name="Chiffre libellé 2"/>
          <p:cNvSpPr txBox="1"/>
          <p:nvPr/>
        </p:nvSpPr>
        <p:spPr>
          <a:xfrm>
            <a:off x="7580376" y="265176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prix de vente</a:t>
            </a:r>
            <a:endParaRPr lang="en-US" sz="1300" dirty="0"/>
          </a:p>
        </p:txBody>
      </p:sp>
      <p:sp>
        <p:nvSpPr>
          <p:cNvPr id="11" name="Chiffre 3"/>
          <p:cNvSpPr/>
          <p:nvPr/>
        </p:nvSpPr>
        <p:spPr>
          <a:xfrm>
            <a:off x="9592056" y="1691640"/>
            <a:ext cx="1993392" cy="169164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Chiffre valeur 3"/>
          <p:cNvSpPr txBox="1"/>
          <p:nvPr/>
        </p:nvSpPr>
        <p:spPr>
          <a:xfrm>
            <a:off x="9683496" y="18288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17,51 €</a:t>
            </a:r>
            <a:endParaRPr lang="en-US" sz="3000" dirty="0"/>
          </a:p>
        </p:txBody>
      </p:sp>
      <p:sp>
        <p:nvSpPr>
          <p:cNvPr id="13" name="Chiffre libellé 3"/>
          <p:cNvSpPr txBox="1"/>
          <p:nvPr/>
        </p:nvSpPr>
        <p:spPr>
          <a:xfrm>
            <a:off x="9701784" y="265176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reste avant la pub, sans TVA</a:t>
            </a:r>
            <a:endParaRPr lang="en-US" sz="1300" dirty="0"/>
          </a:p>
        </p:txBody>
      </p:sp>
      <p:sp>
        <p:nvSpPr>
          <p:cNvPr id="14" name="Détails héros"/>
          <p:cNvSpPr txBox="1"/>
          <p:nvPr/>
        </p:nvSpPr>
        <p:spPr>
          <a:xfrm>
            <a:off x="5349240" y="3703320"/>
            <a:ext cx="6263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Acier titane plaqué or, chaîne fine semée de marguerites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Fournisseur CJ, réf. CJLX171494501AZ, envoi « Jewel Shipping » suivi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Prix fixé à environ 3,7 fois le coût livré (minimum conseillé : 3 fois)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À vérifier : 7 jours sous la douche avec l'échantillon avant d'écrire « résiste à l'eau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LA GAMME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produits, un seul style</a:t>
            </a:r>
            <a:endParaRPr lang="en-US" sz="3600" dirty="0"/>
          </a:p>
        </p:txBody>
      </p:sp>
      <p:pic>
        <p:nvPicPr>
          <p:cNvPr id="4" name="Illustration Bijoux" descr="Illustration Bijo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057400" cy="2057400"/>
          </a:xfrm>
          <a:prstGeom prst="rect">
            <a:avLst/>
          </a:prstGeom>
        </p:spPr>
      </p:pic>
      <p:sp>
        <p:nvSpPr>
          <p:cNvPr id="5" name="Gamme titre Bijoux"/>
          <p:cNvSpPr txBox="1"/>
          <p:nvPr/>
        </p:nvSpPr>
        <p:spPr>
          <a:xfrm>
            <a:off x="548640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Bijoux</a:t>
            </a:r>
            <a:endParaRPr lang="en-US" sz="1800" dirty="0"/>
          </a:p>
        </p:txBody>
      </p:sp>
      <p:sp>
        <p:nvSpPr>
          <p:cNvPr id="6" name="Gamme nombre Bijoux"/>
          <p:cNvSpPr txBox="1"/>
          <p:nvPr/>
        </p:nvSpPr>
        <p:spPr>
          <a:xfrm>
            <a:off x="548640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pièces</a:t>
            </a:r>
            <a:endParaRPr lang="en-US" sz="1300" dirty="0"/>
          </a:p>
        </p:txBody>
      </p:sp>
      <p:sp>
        <p:nvSpPr>
          <p:cNvPr id="7" name="Gamme détail Bijoux"/>
          <p:cNvSpPr txBox="1"/>
          <p:nvPr/>
        </p:nvSpPr>
        <p:spPr>
          <a:xfrm>
            <a:off x="548640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Colliers, bracelets, boucles</a:t>
            </a:r>
            <a:endParaRPr lang="en-US" sz="1300" dirty="0"/>
          </a:p>
        </p:txBody>
      </p:sp>
      <p:sp>
        <p:nvSpPr>
          <p:cNvPr id="8" name="Gamme rôle Bijoux"/>
          <p:cNvSpPr txBox="1"/>
          <p:nvPr/>
        </p:nvSpPr>
        <p:spPr>
          <a:xfrm>
            <a:off x="548640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Produits héros</a:t>
            </a:r>
            <a:endParaRPr lang="en-US" sz="1300" dirty="0"/>
          </a:p>
        </p:txBody>
      </p:sp>
      <p:pic>
        <p:nvPicPr>
          <p:cNvPr id="9" name="Illustration Piercings" descr="Illustration Pierc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1691640"/>
            <a:ext cx="2057400" cy="2057400"/>
          </a:xfrm>
          <a:prstGeom prst="rect">
            <a:avLst/>
          </a:prstGeom>
        </p:spPr>
      </p:pic>
      <p:sp>
        <p:nvSpPr>
          <p:cNvPr id="10" name="Gamme titre Piercings"/>
          <p:cNvSpPr txBox="1"/>
          <p:nvPr/>
        </p:nvSpPr>
        <p:spPr>
          <a:xfrm>
            <a:off x="2798064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Piercings</a:t>
            </a:r>
            <a:endParaRPr lang="en-US" sz="1800" dirty="0"/>
          </a:p>
        </p:txBody>
      </p:sp>
      <p:sp>
        <p:nvSpPr>
          <p:cNvPr id="11" name="Gamme nombre Piercings"/>
          <p:cNvSpPr txBox="1"/>
          <p:nvPr/>
        </p:nvSpPr>
        <p:spPr>
          <a:xfrm>
            <a:off x="2798064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 pièces</a:t>
            </a:r>
            <a:endParaRPr lang="en-US" sz="1300" dirty="0"/>
          </a:p>
        </p:txBody>
      </p:sp>
      <p:sp>
        <p:nvSpPr>
          <p:cNvPr id="12" name="Gamme détail Piercings"/>
          <p:cNvSpPr txBox="1"/>
          <p:nvPr/>
        </p:nvSpPr>
        <p:spPr>
          <a:xfrm>
            <a:off x="2798064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Titane, ou sans perçage</a:t>
            </a:r>
            <a:endParaRPr lang="en-US" sz="1300" dirty="0"/>
          </a:p>
        </p:txBody>
      </p:sp>
      <p:sp>
        <p:nvSpPr>
          <p:cNvPr id="13" name="Gamme rôle Piercings"/>
          <p:cNvSpPr txBox="1"/>
          <p:nvPr/>
        </p:nvSpPr>
        <p:spPr>
          <a:xfrm>
            <a:off x="2798064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Produit d'appel</a:t>
            </a:r>
            <a:endParaRPr lang="en-US" sz="1300" dirty="0"/>
          </a:p>
        </p:txBody>
      </p:sp>
      <p:pic>
        <p:nvPicPr>
          <p:cNvPr id="14" name="Illustration Foulards" descr="Illustration Foular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1691640"/>
            <a:ext cx="2057400" cy="2057400"/>
          </a:xfrm>
          <a:prstGeom prst="rect">
            <a:avLst/>
          </a:prstGeom>
        </p:spPr>
      </p:pic>
      <p:sp>
        <p:nvSpPr>
          <p:cNvPr id="15" name="Gamme titre Foulards"/>
          <p:cNvSpPr txBox="1"/>
          <p:nvPr/>
        </p:nvSpPr>
        <p:spPr>
          <a:xfrm>
            <a:off x="5047488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Foulards</a:t>
            </a:r>
            <a:endParaRPr lang="en-US" sz="1800" dirty="0"/>
          </a:p>
        </p:txBody>
      </p:sp>
      <p:sp>
        <p:nvSpPr>
          <p:cNvPr id="16" name="Gamme nombre Foulards"/>
          <p:cNvSpPr txBox="1"/>
          <p:nvPr/>
        </p:nvSpPr>
        <p:spPr>
          <a:xfrm>
            <a:off x="5047488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 pièces</a:t>
            </a:r>
            <a:endParaRPr lang="en-US" sz="1300" dirty="0"/>
          </a:p>
        </p:txBody>
      </p:sp>
      <p:sp>
        <p:nvSpPr>
          <p:cNvPr id="17" name="Gamme détail Foulards"/>
          <p:cNvSpPr txBox="1"/>
          <p:nvPr/>
        </p:nvSpPr>
        <p:spPr>
          <a:xfrm>
            <a:off x="5047488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Foulards satinés, pinces</a:t>
            </a:r>
            <a:endParaRPr lang="en-US" sz="1300" dirty="0"/>
          </a:p>
        </p:txBody>
      </p:sp>
      <p:sp>
        <p:nvSpPr>
          <p:cNvPr id="18" name="Gamme rôle Foulards"/>
          <p:cNvSpPr txBox="1"/>
          <p:nvPr/>
        </p:nvSpPr>
        <p:spPr>
          <a:xfrm>
            <a:off x="5047488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Complément</a:t>
            </a:r>
            <a:endParaRPr lang="en-US" sz="1300" dirty="0"/>
          </a:p>
        </p:txBody>
      </p:sp>
      <p:pic>
        <p:nvPicPr>
          <p:cNvPr id="19" name="Illustration Sacs" descr="Illustration Sac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12" y="1691640"/>
            <a:ext cx="2057400" cy="2057400"/>
          </a:xfrm>
          <a:prstGeom prst="rect">
            <a:avLst/>
          </a:prstGeom>
        </p:spPr>
      </p:pic>
      <p:sp>
        <p:nvSpPr>
          <p:cNvPr id="20" name="Gamme titre Sacs"/>
          <p:cNvSpPr txBox="1"/>
          <p:nvPr/>
        </p:nvSpPr>
        <p:spPr>
          <a:xfrm>
            <a:off x="7296912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Sacs</a:t>
            </a:r>
            <a:endParaRPr lang="en-US" sz="1800" dirty="0"/>
          </a:p>
        </p:txBody>
      </p:sp>
      <p:sp>
        <p:nvSpPr>
          <p:cNvPr id="21" name="Gamme nombre Sacs"/>
          <p:cNvSpPr txBox="1"/>
          <p:nvPr/>
        </p:nvSpPr>
        <p:spPr>
          <a:xfrm>
            <a:off x="7296912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 pièces</a:t>
            </a:r>
            <a:endParaRPr lang="en-US" sz="1300" dirty="0"/>
          </a:p>
        </p:txBody>
      </p:sp>
      <p:sp>
        <p:nvSpPr>
          <p:cNvPr id="22" name="Gamme détail Sacs"/>
          <p:cNvSpPr txBox="1"/>
          <p:nvPr/>
        </p:nvSpPr>
        <p:spPr>
          <a:xfrm>
            <a:off x="7296912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Mini sac, pochette</a:t>
            </a:r>
            <a:endParaRPr lang="en-US" sz="1300" dirty="0"/>
          </a:p>
        </p:txBody>
      </p:sp>
      <p:sp>
        <p:nvSpPr>
          <p:cNvPr id="23" name="Gamme rôle Sacs"/>
          <p:cNvSpPr txBox="1"/>
          <p:nvPr/>
        </p:nvSpPr>
        <p:spPr>
          <a:xfrm>
            <a:off x="7296912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Monter le panier</a:t>
            </a:r>
            <a:endParaRPr lang="en-US" sz="1300" dirty="0"/>
          </a:p>
        </p:txBody>
      </p:sp>
      <p:pic>
        <p:nvPicPr>
          <p:cNvPr id="24" name="Illustration Parures" descr="Illustration Parur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691640"/>
            <a:ext cx="2057400" cy="2057400"/>
          </a:xfrm>
          <a:prstGeom prst="rect">
            <a:avLst/>
          </a:prstGeom>
        </p:spPr>
      </p:pic>
      <p:sp>
        <p:nvSpPr>
          <p:cNvPr id="25" name="Gamme titre Parures"/>
          <p:cNvSpPr txBox="1"/>
          <p:nvPr/>
        </p:nvSpPr>
        <p:spPr>
          <a:xfrm>
            <a:off x="9546336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Parures</a:t>
            </a:r>
            <a:endParaRPr lang="en-US" sz="1800" dirty="0"/>
          </a:p>
        </p:txBody>
      </p:sp>
      <p:sp>
        <p:nvSpPr>
          <p:cNvPr id="26" name="Gamme nombre Parures"/>
          <p:cNvSpPr txBox="1"/>
          <p:nvPr/>
        </p:nvSpPr>
        <p:spPr>
          <a:xfrm>
            <a:off x="9546336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 coffrets</a:t>
            </a:r>
            <a:endParaRPr lang="en-US" sz="1300" dirty="0"/>
          </a:p>
        </p:txBody>
      </p:sp>
      <p:sp>
        <p:nvSpPr>
          <p:cNvPr id="27" name="Gamme détail Parures"/>
          <p:cNvSpPr txBox="1"/>
          <p:nvPr/>
        </p:nvSpPr>
        <p:spPr>
          <a:xfrm>
            <a:off x="9546336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Trois pièces en écrin</a:t>
            </a:r>
            <a:endParaRPr lang="en-US" sz="1300" dirty="0"/>
          </a:p>
        </p:txBody>
      </p:sp>
      <p:sp>
        <p:nvSpPr>
          <p:cNvPr id="28" name="Gamme rôle Parures"/>
          <p:cNvSpPr txBox="1"/>
          <p:nvPr/>
        </p:nvSpPr>
        <p:spPr>
          <a:xfrm>
            <a:off x="9546336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Le cadeau</a:t>
            </a:r>
            <a:endParaRPr lang="en-US" sz="1300" dirty="0"/>
          </a:p>
        </p:txBody>
      </p:sp>
      <p:sp>
        <p:nvSpPr>
          <p:cNvPr id="29" name="Règle gamme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cohérence vient du style (doré, ivoire, noir), pas du type de produit. Aucun logo de marque ; « plaqué or » et « satiné », jamais « or » ou « soie » sans preuve.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LE PANIER MOYEN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marge vient des ensembles</a:t>
            </a:r>
            <a:endParaRPr lang="en-US" sz="3600" dirty="0"/>
          </a:p>
        </p:txBody>
      </p:sp>
      <p:graphicFrame>
        <p:nvGraphicFramePr>
          <p:cNvPr id="4" name="Graphique marges" descr=""/>
          <p:cNvGraphicFramePr/>
          <p:nvPr/>
        </p:nvGraphicFramePr>
        <p:xfrm>
          <a:off x="548640" y="16916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Levier titre 1"/>
          <p:cNvSpPr txBox="1"/>
          <p:nvPr/>
        </p:nvSpPr>
        <p:spPr>
          <a:xfrm>
            <a:off x="749808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porter avec</a:t>
            </a:r>
            <a:endParaRPr lang="en-US" sz="1800" dirty="0"/>
          </a:p>
        </p:txBody>
      </p:sp>
      <p:sp>
        <p:nvSpPr>
          <p:cNvPr id="6" name="Levier texte 1"/>
          <p:cNvSpPr txBox="1"/>
          <p:nvPr/>
        </p:nvSpPr>
        <p:spPr>
          <a:xfrm>
            <a:off x="7498080" y="21671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pièce assortie proposée sur la fiche, à un prix d'ensemble</a:t>
            </a:r>
            <a:endParaRPr lang="en-US" sz="1500" dirty="0"/>
          </a:p>
        </p:txBody>
      </p:sp>
      <p:sp>
        <p:nvSpPr>
          <p:cNvPr id="7" name="Levier titre 2"/>
          <p:cNvSpPr txBox="1"/>
          <p:nvPr/>
        </p:nvSpPr>
        <p:spPr>
          <a:xfrm>
            <a:off x="7498080" y="28620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Parures en écrin</a:t>
            </a:r>
            <a:endParaRPr lang="en-US" sz="1800" dirty="0"/>
          </a:p>
        </p:txBody>
      </p:sp>
      <p:sp>
        <p:nvSpPr>
          <p:cNvPr id="8" name="Levier texte 2"/>
          <p:cNvSpPr txBox="1"/>
          <p:nvPr/>
        </p:nvSpPr>
        <p:spPr>
          <a:xfrm>
            <a:off x="7498080" y="3246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Trois pièces réunies, prêtes à offrir</a:t>
            </a:r>
            <a:endParaRPr lang="en-US" sz="1500" dirty="0"/>
          </a:p>
        </p:txBody>
      </p:sp>
      <p:sp>
        <p:nvSpPr>
          <p:cNvPr id="9" name="Levier titre 3"/>
          <p:cNvSpPr txBox="1"/>
          <p:nvPr/>
        </p:nvSpPr>
        <p:spPr>
          <a:xfrm>
            <a:off x="7498080" y="39410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Coffret à composer</a:t>
            </a:r>
            <a:endParaRPr lang="en-US" sz="1800" dirty="0"/>
          </a:p>
        </p:txBody>
      </p:sp>
      <p:sp>
        <p:nvSpPr>
          <p:cNvPr id="10" name="Levier texte 3"/>
          <p:cNvSpPr txBox="1"/>
          <p:nvPr/>
        </p:nvSpPr>
        <p:spPr>
          <a:xfrm>
            <a:off x="749808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 pièces à 29,90 €, 5 pièces à 44,90 €</a:t>
            </a:r>
            <a:endParaRPr lang="en-US" sz="1500" dirty="0"/>
          </a:p>
        </p:txBody>
      </p:sp>
      <p:sp>
        <p:nvSpPr>
          <p:cNvPr id="11" name="Levier titre 4"/>
          <p:cNvSpPr txBox="1"/>
          <p:nvPr/>
        </p:nvSpPr>
        <p:spPr>
          <a:xfrm>
            <a:off x="7498080" y="50200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Livraison offerte</a:t>
            </a:r>
            <a:endParaRPr lang="en-US" sz="1800" dirty="0"/>
          </a:p>
        </p:txBody>
      </p:sp>
      <p:sp>
        <p:nvSpPr>
          <p:cNvPr id="12" name="Levier texte 4"/>
          <p:cNvSpPr txBox="1"/>
          <p:nvPr/>
        </p:nvSpPr>
        <p:spPr>
          <a:xfrm>
            <a:off x="7498080" y="5404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À partir de 35 €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CONFIANCE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urgence vraie, un ton de maison de bijoux</a:t>
            </a:r>
            <a:endParaRPr lang="en-US" sz="3600" dirty="0"/>
          </a:p>
        </p:txBody>
      </p:sp>
      <p:sp>
        <p:nvSpPr>
          <p:cNvPr id="4" name="Carte urgence"/>
          <p:cNvSpPr/>
          <p:nvPr/>
        </p:nvSpPr>
        <p:spPr>
          <a:xfrm>
            <a:off x="548640" y="1691640"/>
            <a:ext cx="544068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Urgence titre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L'urgence, toujours vraie</a:t>
            </a:r>
            <a:endParaRPr lang="en-US" sz="2000" dirty="0"/>
          </a:p>
        </p:txBody>
      </p:sp>
      <p:sp>
        <p:nvSpPr>
          <p:cNvPr id="6" name="Urgence liste"/>
          <p:cNvSpPr txBox="1"/>
          <p:nvPr/>
        </p:nvSpPr>
        <p:spPr>
          <a:xfrm>
            <a:off x="914400" y="256032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Noël : « commandez avant le 8 décembre », calculé sur le vrai délai de livraison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Date de livraison estimée sur chaque fiche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Fête des mères, Saint-Valentin : de vraies dates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Jamais de faux compte à rebours, faux stock ni faux avis</a:t>
            </a:r>
            <a:endParaRPr lang="en-US" sz="1500" dirty="0"/>
          </a:p>
        </p:txBody>
      </p:sp>
      <p:graphicFrame>
        <p:nvGraphicFramePr>
          <p:cNvPr id="12" name="Tableau t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30175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n'écrit pas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écrit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Best-seller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Les incontournables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−30 %, vous économisez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À porter avec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Box, pack, lot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Coffret, écrin, parure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Dépêchez-vous !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Pour Noël, commandez avant le…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Émojis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Aucun émoji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PUBLICITÉ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petit, décider sur les chiffres</a:t>
            </a:r>
            <a:endParaRPr lang="en-US" sz="3600" dirty="0"/>
          </a:p>
        </p:txBody>
      </p:sp>
      <p:sp>
        <p:nvSpPr>
          <p:cNvPr id="4" name="Vidéo 01"/>
          <p:cNvSpPr txBox="1"/>
          <p:nvPr/>
        </p:nvSpPr>
        <p:spPr>
          <a:xfrm>
            <a:off x="548640" y="17647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Vidéo titre 01"/>
          <p:cNvSpPr txBox="1"/>
          <p:nvPr/>
        </p:nvSpPr>
        <p:spPr>
          <a:xfrm>
            <a:off x="14630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 Un bijou doré qui ne noircit pas. »</a:t>
            </a:r>
            <a:endParaRPr lang="en-US" sz="1700" dirty="0"/>
          </a:p>
        </p:txBody>
      </p:sp>
      <p:sp>
        <p:nvSpPr>
          <p:cNvPr id="6" name="Vidéo texte 01"/>
          <p:cNvSpPr txBox="1"/>
          <p:nvPr/>
        </p:nvSpPr>
        <p:spPr>
          <a:xfrm>
            <a:off x="14630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collier porté, puis sous l'eau</a:t>
            </a:r>
            <a:endParaRPr lang="en-US" sz="1500" dirty="0"/>
          </a:p>
        </p:txBody>
      </p:sp>
      <p:sp>
        <p:nvSpPr>
          <p:cNvPr id="7" name="Vidéo 02"/>
          <p:cNvSpPr txBox="1"/>
          <p:nvPr/>
        </p:nvSpPr>
        <p:spPr>
          <a:xfrm>
            <a:off x="548640" y="30906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Vidéo titre 02"/>
          <p:cNvSpPr txBox="1"/>
          <p:nvPr/>
        </p:nvSpPr>
        <p:spPr>
          <a:xfrm>
            <a:off x="1463040" y="31089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 7 jours sous la douche. »</a:t>
            </a:r>
            <a:endParaRPr lang="en-US" sz="1700" dirty="0"/>
          </a:p>
        </p:txBody>
      </p:sp>
      <p:sp>
        <p:nvSpPr>
          <p:cNvPr id="9" name="Vidéo texte 02"/>
          <p:cNvSpPr txBox="1"/>
          <p:nvPr/>
        </p:nvSpPr>
        <p:spPr>
          <a:xfrm>
            <a:off x="1463040" y="3538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Jour 1, jour 3, jour 7 (si c'est vrai)</a:t>
            </a:r>
            <a:endParaRPr lang="en-US" sz="1500" dirty="0"/>
          </a:p>
        </p:txBody>
      </p:sp>
      <p:sp>
        <p:nvSpPr>
          <p:cNvPr id="10" name="Vidéo 03"/>
          <p:cNvSpPr txBox="1"/>
          <p:nvPr/>
        </p:nvSpPr>
        <p:spPr>
          <a:xfrm>
            <a:off x="548640" y="44165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Vidéo titre 03"/>
          <p:cNvSpPr txBox="1"/>
          <p:nvPr/>
        </p:nvSpPr>
        <p:spPr>
          <a:xfrm>
            <a:off x="146304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 L'allure d'un piercing, sans perçage. »</a:t>
            </a:r>
            <a:endParaRPr lang="en-US" sz="1700" dirty="0"/>
          </a:p>
        </p:txBody>
      </p:sp>
      <p:sp>
        <p:nvSpPr>
          <p:cNvPr id="12" name="Vidéo texte 03"/>
          <p:cNvSpPr txBox="1"/>
          <p:nvPr/>
        </p:nvSpPr>
        <p:spPr>
          <a:xfrm>
            <a:off x="1463040" y="48646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L'anneau posé en un geste</a:t>
            </a:r>
            <a:endParaRPr lang="en-US" sz="1500" dirty="0"/>
          </a:p>
        </p:txBody>
      </p:sp>
      <p:sp>
        <p:nvSpPr>
          <p:cNvPr id="13" name="Carte test"/>
          <p:cNvSpPr/>
          <p:nvPr/>
        </p:nvSpPr>
        <p:spPr>
          <a:xfrm>
            <a:off x="6675120" y="1691640"/>
            <a:ext cx="4965192" cy="44805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st titre"/>
          <p:cNvSpPr txBox="1"/>
          <p:nvPr/>
        </p:nvSpPr>
        <p:spPr>
          <a:xfrm>
            <a:off x="704088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test</a:t>
            </a:r>
            <a:endParaRPr lang="en-US" sz="2000" dirty="0"/>
          </a:p>
        </p:txBody>
      </p:sp>
      <p:sp>
        <p:nvSpPr>
          <p:cNvPr id="15" name="Test liste"/>
          <p:cNvSpPr txBox="1"/>
          <p:nvPr/>
        </p:nvSpPr>
        <p:spPr>
          <a:xfrm>
            <a:off x="7040880" y="2560320"/>
            <a:ext cx="42976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 vidéos × 10 € par jour, pendant 3 à 4 jours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Femmes de 18 à 45 ans, en France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On garde : clic &gt; 1,5 %, coût par clic &lt; 0,60 €, coût par achat &lt; 15 €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On coupe une vidéo sans ajout au panier après 25 €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PROCHAINES ÉTAPES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site à la première vente</a:t>
            </a:r>
            <a:endParaRPr lang="en-US" sz="3600" dirty="0"/>
          </a:p>
        </p:txBody>
      </p:sp>
      <p:sp>
        <p:nvSpPr>
          <p:cNvPr id="4" name="Frise"/>
          <p:cNvSpPr/>
          <p:nvPr/>
        </p:nvSpPr>
        <p:spPr>
          <a:xfrm>
            <a:off x="548640" y="2606040"/>
            <a:ext cx="11091672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" name="Étape 01"/>
          <p:cNvSpPr txBox="1"/>
          <p:nvPr/>
        </p:nvSpPr>
        <p:spPr>
          <a:xfrm>
            <a:off x="548640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Étape titre 01"/>
          <p:cNvSpPr txBox="1"/>
          <p:nvPr/>
        </p:nvSpPr>
        <p:spPr>
          <a:xfrm>
            <a:off x="548640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Nom et domaine</a:t>
            </a:r>
            <a:endParaRPr lang="en-US" sz="1700" dirty="0"/>
          </a:p>
        </p:txBody>
      </p:sp>
      <p:sp>
        <p:nvSpPr>
          <p:cNvPr id="7" name="Étape texte 01"/>
          <p:cNvSpPr txBox="1"/>
          <p:nvPr/>
        </p:nvSpPr>
        <p:spPr>
          <a:xfrm>
            <a:off x="548640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Vérifier VAURE à l'INPI, réserver vaurestudio.com</a:t>
            </a:r>
            <a:endParaRPr lang="en-US" sz="1400" dirty="0"/>
          </a:p>
        </p:txBody>
      </p:sp>
      <p:sp>
        <p:nvSpPr>
          <p:cNvPr id="8" name="Étape 02"/>
          <p:cNvSpPr txBox="1"/>
          <p:nvPr/>
        </p:nvSpPr>
        <p:spPr>
          <a:xfrm>
            <a:off x="2798064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Étape titre 02"/>
          <p:cNvSpPr txBox="1"/>
          <p:nvPr/>
        </p:nvSpPr>
        <p:spPr>
          <a:xfrm>
            <a:off x="2798064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Produits</a:t>
            </a:r>
            <a:endParaRPr lang="en-US" sz="1700" dirty="0"/>
          </a:p>
        </p:txBody>
      </p:sp>
      <p:sp>
        <p:nvSpPr>
          <p:cNvPr id="10" name="Étape texte 02"/>
          <p:cNvSpPr txBox="1"/>
          <p:nvPr/>
        </p:nvSpPr>
        <p:spPr>
          <a:xfrm>
            <a:off x="2798064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Bracelet et puces Marguerite, puis le reste du catalogue</a:t>
            </a:r>
            <a:endParaRPr lang="en-US" sz="1400" dirty="0"/>
          </a:p>
        </p:txBody>
      </p:sp>
      <p:sp>
        <p:nvSpPr>
          <p:cNvPr id="11" name="Étape 03"/>
          <p:cNvSpPr txBox="1"/>
          <p:nvPr/>
        </p:nvSpPr>
        <p:spPr>
          <a:xfrm>
            <a:off x="5047488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Étape titre 03"/>
          <p:cNvSpPr txBox="1"/>
          <p:nvPr/>
        </p:nvSpPr>
        <p:spPr>
          <a:xfrm>
            <a:off x="5047488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Échantillons</a:t>
            </a:r>
            <a:endParaRPr lang="en-US" sz="1700" dirty="0"/>
          </a:p>
        </p:txBody>
      </p:sp>
      <p:sp>
        <p:nvSpPr>
          <p:cNvPr id="13" name="Étape texte 03"/>
          <p:cNvSpPr txBox="1"/>
          <p:nvPr/>
        </p:nvSpPr>
        <p:spPr>
          <a:xfrm>
            <a:off x="5047488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Collier, anneau sans perçage, créoles : test de 7 jours</a:t>
            </a:r>
            <a:endParaRPr lang="en-US" sz="1400" dirty="0"/>
          </a:p>
        </p:txBody>
      </p:sp>
      <p:sp>
        <p:nvSpPr>
          <p:cNvPr id="14" name="Étape 04"/>
          <p:cNvSpPr txBox="1"/>
          <p:nvPr/>
        </p:nvSpPr>
        <p:spPr>
          <a:xfrm>
            <a:off x="7296912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5" name="Étape titre 04"/>
          <p:cNvSpPr txBox="1"/>
          <p:nvPr/>
        </p:nvSpPr>
        <p:spPr>
          <a:xfrm>
            <a:off x="7296912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Boutique Shopify</a:t>
            </a:r>
            <a:endParaRPr lang="en-US" sz="1700" dirty="0"/>
          </a:p>
        </p:txBody>
      </p:sp>
      <p:sp>
        <p:nvSpPr>
          <p:cNvPr id="16" name="Étape texte 04"/>
          <p:cNvSpPr txBox="1"/>
          <p:nvPr/>
        </p:nvSpPr>
        <p:spPr>
          <a:xfrm>
            <a:off x="7296912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Thème, applications, pages légales</a:t>
            </a:r>
            <a:endParaRPr lang="en-US" sz="1400" dirty="0"/>
          </a:p>
        </p:txBody>
      </p:sp>
      <p:sp>
        <p:nvSpPr>
          <p:cNvPr id="17" name="Étape 05"/>
          <p:cNvSpPr txBox="1"/>
          <p:nvPr/>
        </p:nvSpPr>
        <p:spPr>
          <a:xfrm>
            <a:off x="9546336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000" dirty="0"/>
          </a:p>
        </p:txBody>
      </p:sp>
      <p:sp>
        <p:nvSpPr>
          <p:cNvPr id="18" name="Étape titre 05"/>
          <p:cNvSpPr txBox="1"/>
          <p:nvPr/>
        </p:nvSpPr>
        <p:spPr>
          <a:xfrm>
            <a:off x="9546336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Premières pubs</a:t>
            </a:r>
            <a:endParaRPr lang="en-US" sz="1700" dirty="0"/>
          </a:p>
        </p:txBody>
      </p:sp>
      <p:sp>
        <p:nvSpPr>
          <p:cNvPr id="19" name="Étape texte 05"/>
          <p:cNvSpPr txBox="1"/>
          <p:nvPr/>
        </p:nvSpPr>
        <p:spPr>
          <a:xfrm>
            <a:off x="9546336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 vidéos, environ 150 €, décision sur les chiffres</a:t>
            </a:r>
            <a:endParaRPr lang="en-US" sz="1400" dirty="0"/>
          </a:p>
        </p:txBody>
      </p:sp>
      <p:sp>
        <p:nvSpPr>
          <p:cNvPr id="20" name="Encadré site"/>
          <p:cNvSpPr/>
          <p:nvPr/>
        </p:nvSpPr>
        <p:spPr>
          <a:xfrm>
            <a:off x="548640" y="5029200"/>
            <a:ext cx="11091672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ite prêt"/>
          <p:cNvSpPr txBox="1"/>
          <p:nvPr/>
        </p:nvSpPr>
        <p:spPr>
          <a:xfrm>
            <a:off x="914400" y="502920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site de démonstration est prêt : accueil, collections, fiches produit, coffret, panier et pages d'aide, dans l'identité VAURE.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EN RÉSUMÉ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éclat qui dure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Une niche précise, un problème réel, un produit léger et rentable.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Prochaine étape : les échantillons et le premier test.</a:t>
            </a:r>
            <a:endParaRPr lang="en-US" sz="2000" dirty="0"/>
          </a:p>
        </p:txBody>
      </p:sp>
      <p:pic>
        <p:nvPicPr>
          <p:cNvPr id="5" name="Logo VAURE doré" descr="Logo VAURE dor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7128" y="5897880"/>
            <a:ext cx="2377440" cy="4118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AURE">
  <a:themeElements>
    <a:clrScheme name="VAURE">
      <a:dk1>
        <a:srgbClr val="151412"/>
      </a:dk1>
      <a:lt1>
        <a:srgbClr val="FFFFFF"/>
      </a:lt1>
      <a:dk2>
        <a:srgbClr val="5A554E"/>
      </a:dk2>
      <a:lt2>
        <a:srgbClr val="F6F2EB"/>
      </a:lt2>
      <a:accent1>
        <a:srgbClr val="B08D57"/>
      </a:accent1>
      <a:accent2>
        <a:srgbClr val="4E6B4F"/>
      </a:accent2>
      <a:accent3>
        <a:srgbClr val="9A4A3C"/>
      </a:accent3>
      <a:accent4>
        <a:srgbClr val="D9C7A3"/>
      </a:accent4>
      <a:accent5>
        <a:srgbClr val="EDE5D8"/>
      </a:accent5>
      <a:accent6>
        <a:srgbClr val="2E2B27"/>
      </a:accent6>
      <a:hlink>
        <a:srgbClr val="B08D57"/>
      </a:hlink>
      <a:folHlink>
        <a:srgbClr val="5A554E"/>
      </a:folHlink>
    </a:clrScheme>
    <a:fontScheme name="VA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VAURE — présentation du projet</dc:title>
  <dc:subject>PptxGenJS Presentation</dc:subject>
  <dc:creator>VAURE</dc:creator>
  <cp:lastModifiedBy>VAURE</cp:lastModifiedBy>
  <cp:revision>1</cp:revision>
  <dcterms:created xsi:type="dcterms:W3CDTF">2026-10-25T08:40:34Z</dcterms:created>
  <dcterms:modified xsi:type="dcterms:W3CDTF">2026-10-25T08:40:34Z</dcterms:modified>
</cp:coreProperties>
</file>